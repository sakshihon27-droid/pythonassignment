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0" d="100"/>
          <a:sy n="60" d="100"/>
        </p:scale>
        <p:origin x="114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4C93-62C2-62AC-8E5F-D66792E538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8B4864-028A-2E0C-A77E-41FDF18C95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54C171E-B0FB-0A4D-104D-FACAB72424A1}"/>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5" name="Footer Placeholder 4">
            <a:extLst>
              <a:ext uri="{FF2B5EF4-FFF2-40B4-BE49-F238E27FC236}">
                <a16:creationId xmlns:a16="http://schemas.microsoft.com/office/drawing/2014/main" id="{3B30B50E-6A23-73D0-CE35-935BA02A9C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7A4CBE-E49E-0D4B-E6C4-365585D7F953}"/>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3623562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B090C-786C-A29F-0BE4-4C12ED5651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A7A544-1D74-DA04-36E5-EC236AE0F9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03BF0F-E87A-F55D-77A2-244FF26F9DE2}"/>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5" name="Footer Placeholder 4">
            <a:extLst>
              <a:ext uri="{FF2B5EF4-FFF2-40B4-BE49-F238E27FC236}">
                <a16:creationId xmlns:a16="http://schemas.microsoft.com/office/drawing/2014/main" id="{3945016A-DD8E-E16F-4DAA-04A6D6D532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108F7F-1227-E2F1-661E-A99650A2814E}"/>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849868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0DDFF-9706-AC71-9168-291418C1D9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5C10CB-2C70-9F25-B3CB-3EAEF67900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A2247A-55F7-5588-7B83-CCD77EFC5A8E}"/>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5" name="Footer Placeholder 4">
            <a:extLst>
              <a:ext uri="{FF2B5EF4-FFF2-40B4-BE49-F238E27FC236}">
                <a16:creationId xmlns:a16="http://schemas.microsoft.com/office/drawing/2014/main" id="{05E95AE5-38BD-BE54-F580-14EC3D0E8F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89AC8-F824-5AE8-2327-84C17201D14A}"/>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3352183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9E781-D492-C184-4B83-29B41DDC76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867C2A-445B-3B6F-6489-EEC32E1D37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CB7AE3-FC15-7D4F-3D7B-3F5509FDBD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4BFFBF-0E01-2557-0249-9F2EB31402D8}"/>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6" name="Footer Placeholder 5">
            <a:extLst>
              <a:ext uri="{FF2B5EF4-FFF2-40B4-BE49-F238E27FC236}">
                <a16:creationId xmlns:a16="http://schemas.microsoft.com/office/drawing/2014/main" id="{ABCC91A2-C3A6-A829-2946-E387A6D16A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781BFD-FB82-9741-160C-85781CF5414C}"/>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555004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76857-5D05-7F08-90F5-2855461F81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D121E9-911D-B49D-6DF8-DB4AA9AB18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59F5B7-82D1-03DB-D36D-2798E34DE7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DCDA66B-4A1B-0F75-FC7D-54950D2B67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54EFC5-EC13-EE9C-F8CB-D7D9391E6E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477A337-7208-CCC5-53DF-23709F1BF554}"/>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8" name="Footer Placeholder 7">
            <a:extLst>
              <a:ext uri="{FF2B5EF4-FFF2-40B4-BE49-F238E27FC236}">
                <a16:creationId xmlns:a16="http://schemas.microsoft.com/office/drawing/2014/main" id="{16F919B4-B3B4-95B8-89FF-D95C86ADB9C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7CA586-89CC-9F9E-2A21-6F9222ABEC8B}"/>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1131191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C3A5D-BF5B-D7CF-DD09-E2315BB69C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9EC633-FB54-00B4-F040-9280A145ED6A}"/>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4" name="Footer Placeholder 3">
            <a:extLst>
              <a:ext uri="{FF2B5EF4-FFF2-40B4-BE49-F238E27FC236}">
                <a16:creationId xmlns:a16="http://schemas.microsoft.com/office/drawing/2014/main" id="{A3D39094-87C3-BCB8-C188-ADE91701190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EE95B4-DDED-FD3C-48AE-AE82C0D92A9B}"/>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2678616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E319D5-78F5-0C2B-BAD3-4799527B9F28}"/>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3" name="Footer Placeholder 2">
            <a:extLst>
              <a:ext uri="{FF2B5EF4-FFF2-40B4-BE49-F238E27FC236}">
                <a16:creationId xmlns:a16="http://schemas.microsoft.com/office/drawing/2014/main" id="{A770330E-FED5-707B-52C7-EA8023F0D7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EA02874-E875-60D7-FC71-13C85A4F9175}"/>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397297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3F281-4ABF-6976-3143-3F3C8B248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77BA86-400E-D755-38FC-89E331C5F5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7D927D-4804-2031-F34B-0229B3909F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692835-20CB-C513-9FF0-1CEA1BCEB8AD}"/>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6" name="Footer Placeholder 5">
            <a:extLst>
              <a:ext uri="{FF2B5EF4-FFF2-40B4-BE49-F238E27FC236}">
                <a16:creationId xmlns:a16="http://schemas.microsoft.com/office/drawing/2014/main" id="{19A6EC1B-9018-D237-F2B1-7A4AC5D204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85DD3F-5ADA-9FC4-2074-969C2653215B}"/>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3131833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2F4CE-3D99-5673-760A-CF6F5EB337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F4361-5F00-0F20-7551-32EBCE0DAC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DC20AB-FCED-CA4C-89EB-CD06FDB324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592C13-D318-14E0-B520-D83657CB7796}"/>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6" name="Footer Placeholder 5">
            <a:extLst>
              <a:ext uri="{FF2B5EF4-FFF2-40B4-BE49-F238E27FC236}">
                <a16:creationId xmlns:a16="http://schemas.microsoft.com/office/drawing/2014/main" id="{EB08C365-3A3F-76B0-23AE-787CC23106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A42B4A-8654-9799-5562-D076E9E12DFD}"/>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2253973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BAAAA-B662-8797-A986-33A835519D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B34239-B979-CAE2-325D-278182D4F8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4BD871-F875-EAFE-26E4-9151382606FF}"/>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5" name="Footer Placeholder 4">
            <a:extLst>
              <a:ext uri="{FF2B5EF4-FFF2-40B4-BE49-F238E27FC236}">
                <a16:creationId xmlns:a16="http://schemas.microsoft.com/office/drawing/2014/main" id="{5368CB21-1DAF-1206-11B1-B7BE89D267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8CC1D0-904F-69F8-56A6-CB77E56325E9}"/>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1957844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65AF1F-B98C-4761-F52B-CAF235922D9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651841-F838-8AB9-6F25-97794E429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6AF910-44CA-91BA-83A7-206A1A00CBE3}"/>
              </a:ext>
            </a:extLst>
          </p:cNvPr>
          <p:cNvSpPr>
            <a:spLocks noGrp="1"/>
          </p:cNvSpPr>
          <p:nvPr>
            <p:ph type="dt" sz="half" idx="10"/>
          </p:nvPr>
        </p:nvSpPr>
        <p:spPr/>
        <p:txBody>
          <a:bodyPr/>
          <a:lstStyle/>
          <a:p>
            <a:fld id="{7638C394-D7DC-4286-991F-1EEF95FC9E97}" type="datetimeFigureOut">
              <a:rPr lang="en-IN" smtClean="0"/>
              <a:t>10-10-2026</a:t>
            </a:fld>
            <a:endParaRPr lang="en-IN"/>
          </a:p>
        </p:txBody>
      </p:sp>
      <p:sp>
        <p:nvSpPr>
          <p:cNvPr id="5" name="Footer Placeholder 4">
            <a:extLst>
              <a:ext uri="{FF2B5EF4-FFF2-40B4-BE49-F238E27FC236}">
                <a16:creationId xmlns:a16="http://schemas.microsoft.com/office/drawing/2014/main" id="{7ECF35FF-7C8F-5D20-F602-B75B87E152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9135E9-C2B0-6240-05EF-673A6C7F92CA}"/>
              </a:ext>
            </a:extLst>
          </p:cNvPr>
          <p:cNvSpPr>
            <a:spLocks noGrp="1"/>
          </p:cNvSpPr>
          <p:nvPr>
            <p:ph type="sldNum" sz="quarter" idx="12"/>
          </p:nvPr>
        </p:nvSpPr>
        <p:spPr/>
        <p:txBody>
          <a:bodyPr/>
          <a:lstStyle/>
          <a:p>
            <a:fld id="{566AEA6E-87E4-4A5E-9930-8828989F6A83}" type="slidenum">
              <a:rPr lang="en-IN" smtClean="0"/>
              <a:t>‹#›</a:t>
            </a:fld>
            <a:endParaRPr lang="en-IN"/>
          </a:p>
        </p:txBody>
      </p:sp>
    </p:spTree>
    <p:extLst>
      <p:ext uri="{BB962C8B-B14F-4D97-AF65-F5344CB8AC3E}">
        <p14:creationId xmlns:p14="http://schemas.microsoft.com/office/powerpoint/2010/main" val="80521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8D57B1-623A-E486-0648-0199FF233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B6FC39-1DB5-681E-6292-65325BAF4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576696-6734-4A42-2181-BC54292B7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38C394-D7DC-4286-991F-1EEF95FC9E97}" type="datetimeFigureOut">
              <a:rPr lang="en-IN" smtClean="0"/>
              <a:t>10-10-2026</a:t>
            </a:fld>
            <a:endParaRPr lang="en-IN"/>
          </a:p>
        </p:txBody>
      </p:sp>
      <p:sp>
        <p:nvSpPr>
          <p:cNvPr id="5" name="Footer Placeholder 4">
            <a:extLst>
              <a:ext uri="{FF2B5EF4-FFF2-40B4-BE49-F238E27FC236}">
                <a16:creationId xmlns:a16="http://schemas.microsoft.com/office/drawing/2014/main" id="{5E89C766-31D6-5CA5-EFE3-83A265518C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D1B2FE-ED52-0113-4AAA-92C10A01C6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6AEA6E-87E4-4A5E-9930-8828989F6A83}" type="slidenum">
              <a:rPr lang="en-IN" smtClean="0"/>
              <a:t>‹#›</a:t>
            </a:fld>
            <a:endParaRPr lang="en-IN"/>
          </a:p>
        </p:txBody>
      </p:sp>
    </p:spTree>
    <p:extLst>
      <p:ext uri="{BB962C8B-B14F-4D97-AF65-F5344CB8AC3E}">
        <p14:creationId xmlns:p14="http://schemas.microsoft.com/office/powerpoint/2010/main" val="1742571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7BAD-B050-08DB-9123-724FD3AA4A71}"/>
              </a:ext>
            </a:extLst>
          </p:cNvPr>
          <p:cNvSpPr>
            <a:spLocks noGrp="1"/>
          </p:cNvSpPr>
          <p:nvPr>
            <p:ph type="ctrTitle"/>
          </p:nvPr>
        </p:nvSpPr>
        <p:spPr>
          <a:xfrm>
            <a:off x="1524000" y="1122363"/>
            <a:ext cx="8504420" cy="1920640"/>
          </a:xfrm>
        </p:spPr>
        <p:txBody>
          <a:bodyPr>
            <a:normAutofit fontScale="90000"/>
          </a:bodyPr>
          <a:lstStyle/>
          <a:p>
            <a:r>
              <a:rPr lang="en-IN" b="1" dirty="0">
                <a:solidFill>
                  <a:srgbClr val="FF0000"/>
                </a:solidFill>
              </a:rPr>
              <a:t>Student Record &amp; Academic Management System</a:t>
            </a:r>
            <a:br>
              <a:rPr lang="en-IN" b="1" dirty="0"/>
            </a:br>
            <a:r>
              <a:rPr lang="en-IN" b="1" dirty="0"/>
              <a:t>unit:-second</a:t>
            </a:r>
            <a:br>
              <a:rPr lang="en-IN" b="1" dirty="0"/>
            </a:br>
            <a:r>
              <a:rPr lang="en-IN" sz="3100" b="1" dirty="0"/>
              <a:t>student name:-Sakshi Bharat Hon</a:t>
            </a:r>
            <a:endParaRPr lang="en-IN" sz="3100" dirty="0"/>
          </a:p>
        </p:txBody>
      </p:sp>
      <p:sp>
        <p:nvSpPr>
          <p:cNvPr id="3" name="Subtitle 2">
            <a:extLst>
              <a:ext uri="{FF2B5EF4-FFF2-40B4-BE49-F238E27FC236}">
                <a16:creationId xmlns:a16="http://schemas.microsoft.com/office/drawing/2014/main" id="{514869F6-FBC9-A6A0-F9AF-37B9E5DDD241}"/>
              </a:ext>
            </a:extLst>
          </p:cNvPr>
          <p:cNvSpPr>
            <a:spLocks noGrp="1"/>
          </p:cNvSpPr>
          <p:nvPr>
            <p:ph type="subTitle" idx="1"/>
          </p:nvPr>
        </p:nvSpPr>
        <p:spPr>
          <a:xfrm>
            <a:off x="564630" y="3844978"/>
            <a:ext cx="9144000" cy="1655762"/>
          </a:xfrm>
        </p:spPr>
        <p:txBody>
          <a:bodyPr/>
          <a:lstStyle/>
          <a:p>
            <a:r>
              <a:rPr lang="en-US" dirty="0"/>
              <a:t> Problem Analysis Student information such as roll number, name, department, subjects, marks, attendance and contact details has to be stored. The user provides student details or selects an operation. The system gives the required student record or calculated result as output.</a:t>
            </a:r>
            <a:endParaRPr lang="en-IN" dirty="0"/>
          </a:p>
        </p:txBody>
      </p:sp>
    </p:spTree>
    <p:extLst>
      <p:ext uri="{BB962C8B-B14F-4D97-AF65-F5344CB8AC3E}">
        <p14:creationId xmlns:p14="http://schemas.microsoft.com/office/powerpoint/2010/main" val="2118116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CCE168-2C73-4EDB-951D-816C71037C69}"/>
              </a:ext>
            </a:extLst>
          </p:cNvPr>
          <p:cNvSpPr txBox="1"/>
          <p:nvPr/>
        </p:nvSpPr>
        <p:spPr>
          <a:xfrm>
            <a:off x="149903" y="0"/>
            <a:ext cx="6669270" cy="923330"/>
          </a:xfrm>
          <a:prstGeom prst="rect">
            <a:avLst/>
          </a:prstGeom>
          <a:noFill/>
        </p:spPr>
        <p:txBody>
          <a:bodyPr wrap="square" rtlCol="0">
            <a:spAutoFit/>
          </a:bodyPr>
          <a:lstStyle/>
          <a:p>
            <a:r>
              <a:rPr lang="en-IN" sz="3600" b="1" dirty="0"/>
              <a:t>Python Data Structure Mapping</a:t>
            </a:r>
          </a:p>
          <a:p>
            <a:endParaRPr lang="en-IN" dirty="0"/>
          </a:p>
        </p:txBody>
      </p:sp>
      <p:graphicFrame>
        <p:nvGraphicFramePr>
          <p:cNvPr id="3" name="Table 2">
            <a:extLst>
              <a:ext uri="{FF2B5EF4-FFF2-40B4-BE49-F238E27FC236}">
                <a16:creationId xmlns:a16="http://schemas.microsoft.com/office/drawing/2014/main" id="{06072437-E49C-EC7A-F774-3C8C3F82EF83}"/>
              </a:ext>
            </a:extLst>
          </p:cNvPr>
          <p:cNvGraphicFramePr>
            <a:graphicFrameLocks noGrp="1"/>
          </p:cNvGraphicFramePr>
          <p:nvPr>
            <p:extLst>
              <p:ext uri="{D42A27DB-BD31-4B8C-83A1-F6EECF244321}">
                <p14:modId xmlns:p14="http://schemas.microsoft.com/office/powerpoint/2010/main" val="2410030346"/>
              </p:ext>
            </p:extLst>
          </p:nvPr>
        </p:nvGraphicFramePr>
        <p:xfrm>
          <a:off x="308130" y="649324"/>
          <a:ext cx="7681628" cy="3291840"/>
        </p:xfrm>
        <a:graphic>
          <a:graphicData uri="http://schemas.openxmlformats.org/drawingml/2006/table">
            <a:tbl>
              <a:tblPr firstRow="1" bandRow="1">
                <a:tableStyleId>{5C22544A-7EE6-4342-B048-85BDC9FD1C3A}</a:tableStyleId>
              </a:tblPr>
              <a:tblGrid>
                <a:gridCol w="3840814">
                  <a:extLst>
                    <a:ext uri="{9D8B030D-6E8A-4147-A177-3AD203B41FA5}">
                      <a16:colId xmlns:a16="http://schemas.microsoft.com/office/drawing/2014/main" val="3344322378"/>
                    </a:ext>
                  </a:extLst>
                </a:gridCol>
                <a:gridCol w="3840814">
                  <a:extLst>
                    <a:ext uri="{9D8B030D-6E8A-4147-A177-3AD203B41FA5}">
                      <a16:colId xmlns:a16="http://schemas.microsoft.com/office/drawing/2014/main" val="187969692"/>
                    </a:ext>
                  </a:extLst>
                </a:gridCol>
              </a:tblGrid>
              <a:tr h="337584">
                <a:tc>
                  <a:txBody>
                    <a:bodyPr/>
                    <a:lstStyle/>
                    <a:p>
                      <a:r>
                        <a:rPr lang="en-IN" sz="1800" b="1" i="0" kern="1200" dirty="0">
                          <a:solidFill>
                            <a:schemeClr val="lt1"/>
                          </a:solidFill>
                          <a:effectLst/>
                          <a:latin typeface="+mn-lt"/>
                          <a:ea typeface="+mn-ea"/>
                          <a:cs typeface="+mn-cs"/>
                        </a:rPr>
                        <a:t>Data Structure</a:t>
                      </a:r>
                      <a:endParaRPr lang="en-IN" dirty="0"/>
                    </a:p>
                  </a:txBody>
                  <a:tcPr/>
                </a:tc>
                <a:tc>
                  <a:txBody>
                    <a:bodyPr/>
                    <a:lstStyle/>
                    <a:p>
                      <a:r>
                        <a:rPr lang="en-IN" sz="1800" b="1" i="0" kern="1200" dirty="0">
                          <a:solidFill>
                            <a:schemeClr val="lt1"/>
                          </a:solidFill>
                          <a:effectLst/>
                          <a:latin typeface="+mn-lt"/>
                          <a:ea typeface="+mn-ea"/>
                          <a:cs typeface="+mn-cs"/>
                        </a:rPr>
                        <a:t>System Application</a:t>
                      </a:r>
                      <a:endParaRPr lang="en-IN" dirty="0"/>
                    </a:p>
                  </a:txBody>
                  <a:tcPr/>
                </a:tc>
                <a:extLst>
                  <a:ext uri="{0D108BD9-81ED-4DB2-BD59-A6C34878D82A}">
                    <a16:rowId xmlns:a16="http://schemas.microsoft.com/office/drawing/2014/main" val="2038373405"/>
                  </a:ext>
                </a:extLst>
              </a:tr>
              <a:tr h="337584">
                <a:tc>
                  <a:txBody>
                    <a:bodyPr/>
                    <a:lstStyle/>
                    <a:p>
                      <a:r>
                        <a:rPr lang="en-IN" sz="1800" b="1" i="0" kern="1200" dirty="0">
                          <a:solidFill>
                            <a:schemeClr val="dk1"/>
                          </a:solidFill>
                          <a:effectLst/>
                          <a:latin typeface="+mn-lt"/>
                          <a:ea typeface="+mn-ea"/>
                          <a:cs typeface="+mn-cs"/>
                        </a:rPr>
                        <a:t>String</a:t>
                      </a:r>
                      <a:endParaRPr lang="en-IN" dirty="0"/>
                    </a:p>
                  </a:txBody>
                  <a:tcPr/>
                </a:tc>
                <a:tc>
                  <a:txBody>
                    <a:bodyPr/>
                    <a:lstStyle/>
                    <a:p>
                      <a:r>
                        <a:rPr lang="en-IN" sz="1800" b="0" i="0" kern="1200" dirty="0" err="1">
                          <a:solidFill>
                            <a:schemeClr val="dk1"/>
                          </a:solidFill>
                          <a:effectLst/>
                          <a:latin typeface="+mn-lt"/>
                          <a:ea typeface="+mn-ea"/>
                          <a:cs typeface="+mn-cs"/>
                        </a:rPr>
                        <a:t>Name,department</a:t>
                      </a:r>
                      <a:r>
                        <a:rPr lang="en-IN" sz="1800" b="0" i="0" kern="1200" dirty="0">
                          <a:solidFill>
                            <a:schemeClr val="dk1"/>
                          </a:solidFill>
                          <a:effectLst/>
                          <a:latin typeface="+mn-lt"/>
                          <a:ea typeface="+mn-ea"/>
                          <a:cs typeface="+mn-cs"/>
                        </a:rPr>
                        <a:t>, address, email ID</a:t>
                      </a:r>
                      <a:endParaRPr lang="en-IN" dirty="0"/>
                    </a:p>
                  </a:txBody>
                  <a:tcPr/>
                </a:tc>
                <a:extLst>
                  <a:ext uri="{0D108BD9-81ED-4DB2-BD59-A6C34878D82A}">
                    <a16:rowId xmlns:a16="http://schemas.microsoft.com/office/drawing/2014/main" val="1772333878"/>
                  </a:ext>
                </a:extLst>
              </a:tr>
              <a:tr h="590772">
                <a:tc>
                  <a:txBody>
                    <a:bodyPr/>
                    <a:lstStyle/>
                    <a:p>
                      <a:r>
                        <a:rPr lang="en-IN" sz="1800" b="1" i="0" kern="1200" dirty="0">
                          <a:solidFill>
                            <a:schemeClr val="dk1"/>
                          </a:solidFill>
                          <a:effectLst/>
                          <a:latin typeface="+mn-lt"/>
                          <a:ea typeface="+mn-ea"/>
                          <a:cs typeface="+mn-cs"/>
                        </a:rPr>
                        <a:t>List</a:t>
                      </a:r>
                      <a:endParaRPr lang="en-IN" dirty="0"/>
                    </a:p>
                  </a:txBody>
                  <a:tcPr/>
                </a:tc>
                <a:tc>
                  <a:txBody>
                    <a:bodyPr/>
                    <a:lstStyle/>
                    <a:p>
                      <a:r>
                        <a:rPr lang="en-IN" sz="1800" b="0" i="0" kern="1200" dirty="0">
                          <a:solidFill>
                            <a:schemeClr val="dk1"/>
                          </a:solidFill>
                          <a:effectLst/>
                          <a:latin typeface="+mn-lt"/>
                          <a:ea typeface="+mn-ea"/>
                          <a:cs typeface="+mn-cs"/>
                        </a:rPr>
                        <a:t>Student records, subjects, marks, attendance</a:t>
                      </a:r>
                      <a:endParaRPr lang="en-IN" dirty="0"/>
                    </a:p>
                  </a:txBody>
                  <a:tcPr/>
                </a:tc>
                <a:extLst>
                  <a:ext uri="{0D108BD9-81ED-4DB2-BD59-A6C34878D82A}">
                    <a16:rowId xmlns:a16="http://schemas.microsoft.com/office/drawing/2014/main" val="137738295"/>
                  </a:ext>
                </a:extLst>
              </a:tr>
              <a:tr h="590772">
                <a:tc>
                  <a:txBody>
                    <a:bodyPr/>
                    <a:lstStyle/>
                    <a:p>
                      <a:r>
                        <a:rPr lang="en-IN" sz="1800" b="1" i="0" kern="1200" dirty="0">
                          <a:solidFill>
                            <a:schemeClr val="dk1"/>
                          </a:solidFill>
                          <a:effectLst/>
                          <a:latin typeface="+mn-lt"/>
                          <a:ea typeface="+mn-ea"/>
                          <a:cs typeface="+mn-cs"/>
                        </a:rPr>
                        <a:t>Tuple</a:t>
                      </a:r>
                      <a:endParaRPr lang="en-IN" dirty="0"/>
                    </a:p>
                  </a:txBody>
                  <a:tcPr/>
                </a:tc>
                <a:tc>
                  <a:txBody>
                    <a:bodyPr/>
                    <a:lstStyle/>
                    <a:p>
                      <a:r>
                        <a:rPr lang="en-IN" sz="1800" b="0" i="0" kern="1200" dirty="0">
                          <a:solidFill>
                            <a:schemeClr val="dk1"/>
                          </a:solidFill>
                          <a:effectLst/>
                          <a:latin typeface="+mn-lt"/>
                          <a:ea typeface="+mn-ea"/>
                          <a:cs typeface="+mn-cs"/>
                        </a:rPr>
                        <a:t>Student records, subjects, marks, attendance</a:t>
                      </a:r>
                      <a:endParaRPr lang="en-IN" dirty="0"/>
                    </a:p>
                  </a:txBody>
                  <a:tcPr/>
                </a:tc>
                <a:extLst>
                  <a:ext uri="{0D108BD9-81ED-4DB2-BD59-A6C34878D82A}">
                    <a16:rowId xmlns:a16="http://schemas.microsoft.com/office/drawing/2014/main" val="1499026853"/>
                  </a:ext>
                </a:extLst>
              </a:tr>
              <a:tr h="590772">
                <a:tc>
                  <a:txBody>
                    <a:bodyPr/>
                    <a:lstStyle/>
                    <a:p>
                      <a:r>
                        <a:rPr lang="en-IN" sz="1800" b="1" i="0" kern="1200" dirty="0">
                          <a:solidFill>
                            <a:schemeClr val="dk1"/>
                          </a:solidFill>
                          <a:effectLst/>
                          <a:latin typeface="+mn-lt"/>
                          <a:ea typeface="+mn-ea"/>
                          <a:cs typeface="+mn-cs"/>
                        </a:rPr>
                        <a:t>Set</a:t>
                      </a:r>
                      <a:endParaRPr lang="en-IN" dirty="0"/>
                    </a:p>
                  </a:txBody>
                  <a:tcPr/>
                </a:tc>
                <a:tc>
                  <a:txBody>
                    <a:bodyPr/>
                    <a:lstStyle/>
                    <a:p>
                      <a:r>
                        <a:rPr lang="en-IN" sz="1800" b="0" i="0" kern="1200" dirty="0">
                          <a:solidFill>
                            <a:schemeClr val="dk1"/>
                          </a:solidFill>
                          <a:effectLst/>
                          <a:latin typeface="+mn-lt"/>
                          <a:ea typeface="+mn-ea"/>
                          <a:cs typeface="+mn-cs"/>
                        </a:rPr>
                        <a:t>Unique departments, course list, student clubs</a:t>
                      </a:r>
                      <a:endParaRPr lang="en-IN" dirty="0"/>
                    </a:p>
                  </a:txBody>
                  <a:tcPr/>
                </a:tc>
                <a:extLst>
                  <a:ext uri="{0D108BD9-81ED-4DB2-BD59-A6C34878D82A}">
                    <a16:rowId xmlns:a16="http://schemas.microsoft.com/office/drawing/2014/main" val="584184031"/>
                  </a:ext>
                </a:extLst>
              </a:tr>
              <a:tr h="590772">
                <a:tc>
                  <a:txBody>
                    <a:bodyPr/>
                    <a:lstStyle/>
                    <a:p>
                      <a:r>
                        <a:rPr lang="en-IN" sz="1800" b="1" i="0" kern="1200" dirty="0">
                          <a:solidFill>
                            <a:schemeClr val="dk1"/>
                          </a:solidFill>
                          <a:effectLst/>
                          <a:latin typeface="+mn-lt"/>
                          <a:ea typeface="+mn-ea"/>
                          <a:cs typeface="+mn-cs"/>
                        </a:rPr>
                        <a:t>Dictionary</a:t>
                      </a:r>
                      <a:endParaRPr lang="en-IN" dirty="0"/>
                    </a:p>
                  </a:txBody>
                  <a:tcPr/>
                </a:tc>
                <a:tc>
                  <a:txBody>
                    <a:bodyPr/>
                    <a:lstStyle/>
                    <a:p>
                      <a:r>
                        <a:rPr lang="en-IN" sz="1800" b="0" i="0" kern="1200" dirty="0">
                          <a:solidFill>
                            <a:schemeClr val="dk1"/>
                          </a:solidFill>
                          <a:effectLst/>
                          <a:latin typeface="+mn-lt"/>
                          <a:ea typeface="+mn-ea"/>
                          <a:cs typeface="+mn-cs"/>
                        </a:rPr>
                        <a:t>Complete student profile (Key-Value Schema)</a:t>
                      </a:r>
                      <a:endParaRPr lang="en-IN" dirty="0"/>
                    </a:p>
                  </a:txBody>
                  <a:tcPr/>
                </a:tc>
                <a:extLst>
                  <a:ext uri="{0D108BD9-81ED-4DB2-BD59-A6C34878D82A}">
                    <a16:rowId xmlns:a16="http://schemas.microsoft.com/office/drawing/2014/main" val="779553436"/>
                  </a:ext>
                </a:extLst>
              </a:tr>
            </a:tbl>
          </a:graphicData>
        </a:graphic>
      </p:graphicFrame>
      <p:sp>
        <p:nvSpPr>
          <p:cNvPr id="4" name="Rectangle: Rounded Corners 3">
            <a:extLst>
              <a:ext uri="{FF2B5EF4-FFF2-40B4-BE49-F238E27FC236}">
                <a16:creationId xmlns:a16="http://schemas.microsoft.com/office/drawing/2014/main" id="{BA397AD4-25BE-1539-8F20-B6D8E46017F9}"/>
              </a:ext>
            </a:extLst>
          </p:cNvPr>
          <p:cNvSpPr/>
          <p:nvPr/>
        </p:nvSpPr>
        <p:spPr>
          <a:xfrm>
            <a:off x="884420" y="4167266"/>
            <a:ext cx="6374983" cy="241341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 Student Profile Representation</a:t>
            </a:r>
          </a:p>
          <a:p>
            <a:pPr algn="ctr"/>
            <a:r>
              <a:rPr lang="en-IN" dirty="0"/>
              <a:t>student = {</a:t>
            </a:r>
            <a:br>
              <a:rPr lang="en-IN" dirty="0"/>
            </a:br>
            <a:r>
              <a:rPr lang="en-IN" dirty="0"/>
              <a:t>  "</a:t>
            </a:r>
            <a:r>
              <a:rPr lang="en-IN" dirty="0" err="1"/>
              <a:t>roll_no</a:t>
            </a:r>
            <a:r>
              <a:rPr lang="en-IN" dirty="0"/>
              <a:t>": 1032</a:t>
            </a:r>
            <a:br>
              <a:rPr lang="en-IN" dirty="0"/>
            </a:br>
            <a:r>
              <a:rPr lang="en-IN" dirty="0"/>
              <a:t>  "name": “Sakshi",</a:t>
            </a:r>
            <a:br>
              <a:rPr lang="en-IN" dirty="0"/>
            </a:br>
            <a:r>
              <a:rPr lang="en-IN" dirty="0"/>
              <a:t>  "department": “AIDS",</a:t>
            </a:r>
            <a:br>
              <a:rPr lang="en-IN" dirty="0"/>
            </a:br>
            <a:r>
              <a:rPr lang="en-IN" dirty="0"/>
              <a:t>  "subjects": ["Python", "Maths"],</a:t>
            </a:r>
            <a:br>
              <a:rPr lang="en-IN" dirty="0"/>
            </a:br>
            <a:r>
              <a:rPr lang="en-IN" dirty="0"/>
              <a:t>  "marks": [80, 75],</a:t>
            </a:r>
            <a:br>
              <a:rPr lang="en-IN" dirty="0"/>
            </a:br>
            <a:r>
              <a:rPr lang="en-IN" dirty="0"/>
              <a:t>  "attendance": 90</a:t>
            </a:r>
            <a:br>
              <a:rPr lang="en-IN" dirty="0"/>
            </a:br>
            <a:r>
              <a:rPr lang="en-IN" dirty="0"/>
              <a:t>}</a:t>
            </a:r>
          </a:p>
        </p:txBody>
      </p:sp>
    </p:spTree>
    <p:extLst>
      <p:ext uri="{BB962C8B-B14F-4D97-AF65-F5344CB8AC3E}">
        <p14:creationId xmlns:p14="http://schemas.microsoft.com/office/powerpoint/2010/main" val="3102528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2008F-7520-295D-F5DD-48B77818D137}"/>
              </a:ext>
            </a:extLst>
          </p:cNvPr>
          <p:cNvSpPr>
            <a:spLocks noGrp="1"/>
          </p:cNvSpPr>
          <p:nvPr>
            <p:ph type="title"/>
          </p:nvPr>
        </p:nvSpPr>
        <p:spPr>
          <a:xfrm>
            <a:off x="299804" y="365126"/>
            <a:ext cx="9638676" cy="849078"/>
          </a:xfrm>
        </p:spPr>
        <p:txBody>
          <a:bodyPr>
            <a:normAutofit fontScale="90000"/>
          </a:bodyPr>
          <a:lstStyle/>
          <a:p>
            <a:r>
              <a:rPr lang="en-IN" b="1" dirty="0">
                <a:solidFill>
                  <a:srgbClr val="FF0000"/>
                </a:solidFill>
              </a:rPr>
              <a:t>System Objective &amp; Methodology</a:t>
            </a:r>
            <a:br>
              <a:rPr lang="en-IN" b="1" dirty="0"/>
            </a:br>
            <a:endParaRPr lang="en-IN" dirty="0"/>
          </a:p>
        </p:txBody>
      </p:sp>
      <p:sp>
        <p:nvSpPr>
          <p:cNvPr id="3" name="Content Placeholder 2">
            <a:extLst>
              <a:ext uri="{FF2B5EF4-FFF2-40B4-BE49-F238E27FC236}">
                <a16:creationId xmlns:a16="http://schemas.microsoft.com/office/drawing/2014/main" id="{99875D34-1866-B29A-B89E-8E9BC7282FD0}"/>
              </a:ext>
            </a:extLst>
          </p:cNvPr>
          <p:cNvSpPr>
            <a:spLocks noGrp="1"/>
          </p:cNvSpPr>
          <p:nvPr>
            <p:ph idx="1"/>
          </p:nvPr>
        </p:nvSpPr>
        <p:spPr>
          <a:xfrm>
            <a:off x="134911" y="1079292"/>
            <a:ext cx="11218889" cy="2163345"/>
          </a:xfrm>
        </p:spPr>
        <p:txBody>
          <a:bodyPr/>
          <a:lstStyle/>
          <a:p>
            <a:r>
              <a:rPr lang="en-IN" b="1" cap="all" dirty="0"/>
              <a:t>Structured Development Lifecycle</a:t>
            </a:r>
            <a:endParaRPr lang="en-IN" dirty="0"/>
          </a:p>
        </p:txBody>
      </p:sp>
      <p:sp>
        <p:nvSpPr>
          <p:cNvPr id="7" name="Rectangle: Rounded Corners 6">
            <a:extLst>
              <a:ext uri="{FF2B5EF4-FFF2-40B4-BE49-F238E27FC236}">
                <a16:creationId xmlns:a16="http://schemas.microsoft.com/office/drawing/2014/main" id="{B3E94DF4-BFB9-42A9-D94C-9570AE04B7B5}"/>
              </a:ext>
            </a:extLst>
          </p:cNvPr>
          <p:cNvSpPr/>
          <p:nvPr/>
        </p:nvSpPr>
        <p:spPr>
          <a:xfrm>
            <a:off x="633959" y="2054160"/>
            <a:ext cx="2473378" cy="1094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1</a:t>
            </a:r>
          </a:p>
          <a:p>
            <a:r>
              <a:rPr lang="en-IN" b="1"/>
              <a:t>Problem Analysis</a:t>
            </a:r>
          </a:p>
          <a:p>
            <a:r>
              <a:rPr lang="en-IN"/>
              <a:t>Identify data requirements</a:t>
            </a:r>
          </a:p>
          <a:p>
            <a:br>
              <a:rPr lang="en-IN"/>
            </a:br>
            <a:endParaRPr lang="en-IN" dirty="0"/>
          </a:p>
        </p:txBody>
      </p:sp>
      <p:sp>
        <p:nvSpPr>
          <p:cNvPr id="9" name="Rectangle: Rounded Corners 8">
            <a:extLst>
              <a:ext uri="{FF2B5EF4-FFF2-40B4-BE49-F238E27FC236}">
                <a16:creationId xmlns:a16="http://schemas.microsoft.com/office/drawing/2014/main" id="{0B187DE4-7F9F-51E6-198C-C84B88E8991A}"/>
              </a:ext>
            </a:extLst>
          </p:cNvPr>
          <p:cNvSpPr/>
          <p:nvPr/>
        </p:nvSpPr>
        <p:spPr>
          <a:xfrm>
            <a:off x="3622622" y="2103385"/>
            <a:ext cx="2473378" cy="1094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t>2</a:t>
            </a:r>
          </a:p>
          <a:p>
            <a:r>
              <a:rPr lang="en-IN" b="1" dirty="0"/>
              <a:t>Algorithm Design</a:t>
            </a:r>
          </a:p>
          <a:p>
            <a:r>
              <a:rPr lang="en-IN" dirty="0"/>
              <a:t>Map log</a:t>
            </a:r>
            <a:r>
              <a:rPr lang="en-IN" b="1" dirty="0"/>
              <a:t> 2 </a:t>
            </a:r>
            <a:r>
              <a:rPr lang="en-IN" dirty="0" err="1"/>
              <a:t>ic</a:t>
            </a:r>
            <a:r>
              <a:rPr lang="en-IN" dirty="0"/>
              <a:t> &amp; flowcharts</a:t>
            </a:r>
          </a:p>
          <a:p>
            <a:br>
              <a:rPr lang="en-IN" dirty="0"/>
            </a:br>
            <a:endParaRPr lang="en-IN" dirty="0"/>
          </a:p>
        </p:txBody>
      </p:sp>
      <p:sp>
        <p:nvSpPr>
          <p:cNvPr id="11" name="Rectangle: Rounded Corners 10">
            <a:extLst>
              <a:ext uri="{FF2B5EF4-FFF2-40B4-BE49-F238E27FC236}">
                <a16:creationId xmlns:a16="http://schemas.microsoft.com/office/drawing/2014/main" id="{90A32A6D-3572-7B09-8D1D-FE103EA987E6}"/>
              </a:ext>
            </a:extLst>
          </p:cNvPr>
          <p:cNvSpPr/>
          <p:nvPr/>
        </p:nvSpPr>
        <p:spPr>
          <a:xfrm>
            <a:off x="6509164" y="2077659"/>
            <a:ext cx="2473378" cy="1094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br>
              <a:rPr lang="en-IN" b="1"/>
            </a:br>
            <a:r>
              <a:rPr lang="en-IN" b="1"/>
              <a:t>Implementation</a:t>
            </a:r>
          </a:p>
          <a:p>
            <a:r>
              <a:rPr lang="en-IN"/>
              <a:t>Python coding &amp; setup</a:t>
            </a:r>
          </a:p>
          <a:p>
            <a:br>
              <a:rPr lang="en-IN"/>
            </a:br>
            <a:endParaRPr lang="en-IN" dirty="0"/>
          </a:p>
        </p:txBody>
      </p:sp>
      <p:sp>
        <p:nvSpPr>
          <p:cNvPr id="13" name="Rectangle: Rounded Corners 12">
            <a:extLst>
              <a:ext uri="{FF2B5EF4-FFF2-40B4-BE49-F238E27FC236}">
                <a16:creationId xmlns:a16="http://schemas.microsoft.com/office/drawing/2014/main" id="{6B17D078-D0FA-5FDC-8734-F867304B80BB}"/>
              </a:ext>
            </a:extLst>
          </p:cNvPr>
          <p:cNvSpPr/>
          <p:nvPr/>
        </p:nvSpPr>
        <p:spPr>
          <a:xfrm>
            <a:off x="9344646" y="2148355"/>
            <a:ext cx="2473378" cy="1094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t>Testing &amp; Verification</a:t>
            </a:r>
          </a:p>
          <a:p>
            <a:r>
              <a:rPr lang="en-IN" dirty="0"/>
              <a:t>edge </a:t>
            </a:r>
            <a:r>
              <a:rPr lang="en-IN" dirty="0" err="1"/>
              <a:t>tValidate</a:t>
            </a:r>
            <a:r>
              <a:rPr lang="en-IN" dirty="0"/>
              <a:t> est cases</a:t>
            </a:r>
            <a:endParaRPr lang="en-IN" b="1" dirty="0"/>
          </a:p>
        </p:txBody>
      </p:sp>
      <p:sp>
        <p:nvSpPr>
          <p:cNvPr id="14" name="TextBox 13">
            <a:extLst>
              <a:ext uri="{FF2B5EF4-FFF2-40B4-BE49-F238E27FC236}">
                <a16:creationId xmlns:a16="http://schemas.microsoft.com/office/drawing/2014/main" id="{BDD6C341-37EA-9D1F-439B-C481DDDAD5D6}"/>
              </a:ext>
            </a:extLst>
          </p:cNvPr>
          <p:cNvSpPr txBox="1"/>
          <p:nvPr/>
        </p:nvSpPr>
        <p:spPr>
          <a:xfrm>
            <a:off x="439405" y="3315015"/>
            <a:ext cx="6989799" cy="861774"/>
          </a:xfrm>
          <a:prstGeom prst="rect">
            <a:avLst/>
          </a:prstGeom>
          <a:noFill/>
        </p:spPr>
        <p:txBody>
          <a:bodyPr wrap="none" rtlCol="0">
            <a:spAutoFit/>
          </a:bodyPr>
          <a:lstStyle/>
          <a:p>
            <a:r>
              <a:rPr lang="en-IN" sz="3200" b="1" dirty="0"/>
              <a:t>Input, Processing &amp; Output Architecture</a:t>
            </a:r>
          </a:p>
          <a:p>
            <a:endParaRPr lang="en-IN" dirty="0"/>
          </a:p>
        </p:txBody>
      </p:sp>
      <p:sp>
        <p:nvSpPr>
          <p:cNvPr id="15" name="Rectangle: Diagonal Corners Rounded 14">
            <a:extLst>
              <a:ext uri="{FF2B5EF4-FFF2-40B4-BE49-F238E27FC236}">
                <a16:creationId xmlns:a16="http://schemas.microsoft.com/office/drawing/2014/main" id="{D763E744-A751-ED11-CE59-24AF2E98592E}"/>
              </a:ext>
            </a:extLst>
          </p:cNvPr>
          <p:cNvSpPr/>
          <p:nvPr/>
        </p:nvSpPr>
        <p:spPr>
          <a:xfrm>
            <a:off x="602108" y="4176790"/>
            <a:ext cx="3490209" cy="2348198"/>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1.System inputs</a:t>
            </a:r>
          </a:p>
          <a:p>
            <a:pPr algn="ctr"/>
            <a:r>
              <a:rPr lang="en-IN" b="1" dirty="0"/>
              <a:t>Identity:</a:t>
            </a:r>
            <a:r>
              <a:rPr lang="en-IN" dirty="0"/>
              <a:t> Roll No, Reg No</a:t>
            </a:r>
          </a:p>
          <a:p>
            <a:pPr algn="ctr"/>
            <a:r>
              <a:rPr lang="en-IN" b="1" dirty="0"/>
              <a:t>Personal:</a:t>
            </a:r>
            <a:r>
              <a:rPr lang="en-IN" dirty="0"/>
              <a:t> Name, DOB, Department</a:t>
            </a:r>
          </a:p>
          <a:p>
            <a:pPr algn="ctr"/>
            <a:r>
              <a:rPr lang="en-IN" b="1" dirty="0"/>
              <a:t>Personal:</a:t>
            </a:r>
            <a:r>
              <a:rPr lang="en-IN" dirty="0"/>
              <a:t> Name, DOB, Department</a:t>
            </a:r>
          </a:p>
          <a:p>
            <a:pPr algn="ctr"/>
            <a:r>
              <a:rPr lang="en-IN" b="1" dirty="0"/>
              <a:t>Engagement:</a:t>
            </a:r>
            <a:r>
              <a:rPr lang="en-IN" dirty="0"/>
              <a:t> Attendance %</a:t>
            </a:r>
          </a:p>
          <a:p>
            <a:pPr algn="ctr"/>
            <a:endParaRPr lang="en-IN" dirty="0"/>
          </a:p>
        </p:txBody>
      </p:sp>
      <p:sp>
        <p:nvSpPr>
          <p:cNvPr id="17" name="Rectangle: Diagonal Corners Rounded 16">
            <a:extLst>
              <a:ext uri="{FF2B5EF4-FFF2-40B4-BE49-F238E27FC236}">
                <a16:creationId xmlns:a16="http://schemas.microsoft.com/office/drawing/2014/main" id="{704DC1C0-2CC8-15BC-7075-FCC64948471F}"/>
              </a:ext>
            </a:extLst>
          </p:cNvPr>
          <p:cNvSpPr/>
          <p:nvPr/>
        </p:nvSpPr>
        <p:spPr>
          <a:xfrm>
            <a:off x="4429596" y="4054404"/>
            <a:ext cx="3490209" cy="2631209"/>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a:t>
            </a:r>
            <a:r>
              <a:rPr lang="en-IN" b="1" dirty="0"/>
              <a:t> Processing Engine</a:t>
            </a:r>
          </a:p>
          <a:p>
            <a:pPr algn="ctr"/>
            <a:r>
              <a:rPr lang="en-IN" b="1" dirty="0"/>
              <a:t>CRUD:</a:t>
            </a:r>
            <a:r>
              <a:rPr lang="en-IN" dirty="0"/>
              <a:t> Add, Search, Update, Delete</a:t>
            </a:r>
          </a:p>
          <a:p>
            <a:pPr algn="ctr"/>
            <a:r>
              <a:rPr lang="en-IN" b="1" dirty="0"/>
              <a:t>Analytics:</a:t>
            </a:r>
            <a:r>
              <a:rPr lang="en-IN" dirty="0"/>
              <a:t> Average calculation</a:t>
            </a:r>
          </a:p>
          <a:p>
            <a:pPr algn="ctr"/>
            <a:r>
              <a:rPr lang="en-IN" b="1" dirty="0"/>
              <a:t>Filtering:</a:t>
            </a:r>
            <a:r>
              <a:rPr lang="en-IN" dirty="0"/>
              <a:t> Department-wise listing</a:t>
            </a:r>
          </a:p>
          <a:p>
            <a:pPr algn="ctr"/>
            <a:r>
              <a:rPr lang="en-IN" b="1" dirty="0"/>
              <a:t>Evaluation:</a:t>
            </a:r>
            <a:r>
              <a:rPr lang="en-IN" dirty="0"/>
              <a:t> Highest scorer identification</a:t>
            </a:r>
          </a:p>
          <a:p>
            <a:pPr algn="ctr"/>
            <a:endParaRPr lang="en-IN" b="1" dirty="0"/>
          </a:p>
          <a:p>
            <a:pPr algn="ctr"/>
            <a:endParaRPr lang="en-IN" dirty="0"/>
          </a:p>
        </p:txBody>
      </p:sp>
      <p:sp>
        <p:nvSpPr>
          <p:cNvPr id="19" name="Rectangle: Diagonal Corners Rounded 18">
            <a:extLst>
              <a:ext uri="{FF2B5EF4-FFF2-40B4-BE49-F238E27FC236}">
                <a16:creationId xmlns:a16="http://schemas.microsoft.com/office/drawing/2014/main" id="{E2DFAF1B-4C51-176A-D18C-0D3184BCED97}"/>
              </a:ext>
            </a:extLst>
          </p:cNvPr>
          <p:cNvSpPr/>
          <p:nvPr/>
        </p:nvSpPr>
        <p:spPr>
          <a:xfrm>
            <a:off x="8257084" y="4054404"/>
            <a:ext cx="3332808" cy="2551390"/>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3.</a:t>
            </a:r>
            <a:r>
              <a:rPr lang="en-IN" b="1" dirty="0"/>
              <a:t> System Outputs</a:t>
            </a:r>
          </a:p>
          <a:p>
            <a:pPr algn="ctr"/>
            <a:r>
              <a:rPr lang="en-IN" b="1" dirty="0"/>
              <a:t>Profiles:</a:t>
            </a:r>
            <a:r>
              <a:rPr lang="en-IN" dirty="0"/>
              <a:t> Complete record views</a:t>
            </a:r>
          </a:p>
          <a:p>
            <a:pPr algn="ctr"/>
            <a:r>
              <a:rPr lang="en-IN" b="1" dirty="0"/>
              <a:t>Summaries:</a:t>
            </a:r>
            <a:r>
              <a:rPr lang="en-IN" dirty="0"/>
              <a:t> Class count &amp; rankings</a:t>
            </a:r>
          </a:p>
          <a:p>
            <a:pPr algn="ctr"/>
            <a:endParaRPr lang="en-IN" b="1" dirty="0"/>
          </a:p>
          <a:p>
            <a:pPr algn="ctr"/>
            <a:r>
              <a:rPr lang="en-IN" b="1" dirty="0"/>
              <a:t>Reports:</a:t>
            </a:r>
            <a:r>
              <a:rPr lang="en-IN" dirty="0"/>
              <a:t> Comprehensive academic status</a:t>
            </a:r>
          </a:p>
          <a:p>
            <a:pPr algn="ctr"/>
            <a:endParaRPr lang="en-IN" dirty="0"/>
          </a:p>
        </p:txBody>
      </p:sp>
    </p:spTree>
    <p:extLst>
      <p:ext uri="{BB962C8B-B14F-4D97-AF65-F5344CB8AC3E}">
        <p14:creationId xmlns:p14="http://schemas.microsoft.com/office/powerpoint/2010/main" val="3055235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CA8E3E2-814C-DBD7-BBCD-ADCD49E407DA}"/>
              </a:ext>
            </a:extLst>
          </p:cNvPr>
          <p:cNvSpPr txBox="1"/>
          <p:nvPr/>
        </p:nvSpPr>
        <p:spPr>
          <a:xfrm>
            <a:off x="0" y="0"/>
            <a:ext cx="5954362" cy="707886"/>
          </a:xfrm>
          <a:prstGeom prst="rect">
            <a:avLst/>
          </a:prstGeom>
          <a:noFill/>
        </p:spPr>
        <p:txBody>
          <a:bodyPr wrap="square" rtlCol="0">
            <a:spAutoFit/>
          </a:bodyPr>
          <a:lstStyle/>
          <a:p>
            <a:r>
              <a:rPr lang="en-IN" sz="2400" dirty="0"/>
              <a:t>1</a:t>
            </a:r>
            <a:r>
              <a:rPr lang="en-IN" dirty="0"/>
              <a:t>. </a:t>
            </a:r>
            <a:r>
              <a:rPr lang="en-IN" sz="4000" dirty="0"/>
              <a:t>Algorithms and Flowcharts</a:t>
            </a:r>
          </a:p>
        </p:txBody>
      </p:sp>
      <p:sp>
        <p:nvSpPr>
          <p:cNvPr id="7" name="TextBox 6">
            <a:extLst>
              <a:ext uri="{FF2B5EF4-FFF2-40B4-BE49-F238E27FC236}">
                <a16:creationId xmlns:a16="http://schemas.microsoft.com/office/drawing/2014/main" id="{2F6DC615-E0AE-BB1A-55F3-6E4942CC2CC0}"/>
              </a:ext>
            </a:extLst>
          </p:cNvPr>
          <p:cNvSpPr txBox="1"/>
          <p:nvPr/>
        </p:nvSpPr>
        <p:spPr>
          <a:xfrm>
            <a:off x="0" y="707886"/>
            <a:ext cx="3823679" cy="1754326"/>
          </a:xfrm>
          <a:prstGeom prst="rect">
            <a:avLst/>
          </a:prstGeom>
          <a:noFill/>
        </p:spPr>
        <p:txBody>
          <a:bodyPr wrap="square" rtlCol="0">
            <a:spAutoFit/>
          </a:bodyPr>
          <a:lstStyle/>
          <a:p>
            <a:r>
              <a:rPr lang="en-US" dirty="0"/>
              <a:t>1 Add Student Algorithm: </a:t>
            </a:r>
          </a:p>
          <a:p>
            <a:pPr marL="342900" indent="-342900">
              <a:buAutoNum type="arabicPeriod"/>
            </a:pPr>
            <a:r>
              <a:rPr lang="en-US" dirty="0"/>
              <a:t>START</a:t>
            </a:r>
          </a:p>
          <a:p>
            <a:r>
              <a:rPr lang="en-US" dirty="0"/>
              <a:t>2. Enter student detail</a:t>
            </a:r>
          </a:p>
          <a:p>
            <a:r>
              <a:rPr lang="en-US" dirty="0"/>
              <a:t> 3. Store details in record</a:t>
            </a:r>
          </a:p>
          <a:p>
            <a:r>
              <a:rPr lang="en-US" dirty="0"/>
              <a:t> 4. Display successful message</a:t>
            </a:r>
          </a:p>
          <a:p>
            <a:r>
              <a:rPr lang="en-US" dirty="0"/>
              <a:t> 5. STOP</a:t>
            </a:r>
            <a:endParaRPr lang="en-IN" dirty="0"/>
          </a:p>
        </p:txBody>
      </p:sp>
      <p:sp>
        <p:nvSpPr>
          <p:cNvPr id="9" name="TextBox 8">
            <a:extLst>
              <a:ext uri="{FF2B5EF4-FFF2-40B4-BE49-F238E27FC236}">
                <a16:creationId xmlns:a16="http://schemas.microsoft.com/office/drawing/2014/main" id="{45AF1225-99B2-CE18-8ED2-320C7BE0F533}"/>
              </a:ext>
            </a:extLst>
          </p:cNvPr>
          <p:cNvSpPr txBox="1"/>
          <p:nvPr/>
        </p:nvSpPr>
        <p:spPr>
          <a:xfrm>
            <a:off x="119921" y="2462212"/>
            <a:ext cx="1282402" cy="400110"/>
          </a:xfrm>
          <a:prstGeom prst="rect">
            <a:avLst/>
          </a:prstGeom>
          <a:noFill/>
        </p:spPr>
        <p:txBody>
          <a:bodyPr wrap="none" rtlCol="0">
            <a:spAutoFit/>
          </a:bodyPr>
          <a:lstStyle/>
          <a:p>
            <a:r>
              <a:rPr lang="en-IN" sz="2000" dirty="0"/>
              <a:t>Flowchart</a:t>
            </a:r>
            <a:r>
              <a:rPr lang="en-IN" dirty="0"/>
              <a:t>:</a:t>
            </a:r>
          </a:p>
        </p:txBody>
      </p:sp>
      <p:sp>
        <p:nvSpPr>
          <p:cNvPr id="10" name="Oval 9">
            <a:extLst>
              <a:ext uri="{FF2B5EF4-FFF2-40B4-BE49-F238E27FC236}">
                <a16:creationId xmlns:a16="http://schemas.microsoft.com/office/drawing/2014/main" id="{B98780D4-687C-1F31-00EA-EEB55137F52C}"/>
              </a:ext>
            </a:extLst>
          </p:cNvPr>
          <p:cNvSpPr/>
          <p:nvPr/>
        </p:nvSpPr>
        <p:spPr>
          <a:xfrm>
            <a:off x="95980" y="2825324"/>
            <a:ext cx="2698228" cy="6895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13" name="Oval 12">
            <a:extLst>
              <a:ext uri="{FF2B5EF4-FFF2-40B4-BE49-F238E27FC236}">
                <a16:creationId xmlns:a16="http://schemas.microsoft.com/office/drawing/2014/main" id="{4CC84521-9B86-6DD7-3B5C-075D1ED93E6C}"/>
              </a:ext>
            </a:extLst>
          </p:cNvPr>
          <p:cNvSpPr/>
          <p:nvPr/>
        </p:nvSpPr>
        <p:spPr>
          <a:xfrm>
            <a:off x="174431" y="3643409"/>
            <a:ext cx="2698228" cy="6895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Enter student details</a:t>
            </a:r>
          </a:p>
        </p:txBody>
      </p:sp>
      <p:sp>
        <p:nvSpPr>
          <p:cNvPr id="16" name="Oval 15">
            <a:extLst>
              <a:ext uri="{FF2B5EF4-FFF2-40B4-BE49-F238E27FC236}">
                <a16:creationId xmlns:a16="http://schemas.microsoft.com/office/drawing/2014/main" id="{0F8CECB0-C055-AADD-2AE5-F5B83570DFEA}"/>
              </a:ext>
            </a:extLst>
          </p:cNvPr>
          <p:cNvSpPr/>
          <p:nvPr/>
        </p:nvSpPr>
        <p:spPr>
          <a:xfrm>
            <a:off x="173610" y="4476714"/>
            <a:ext cx="2662435" cy="6895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Store details in record</a:t>
            </a:r>
          </a:p>
        </p:txBody>
      </p:sp>
      <p:sp>
        <p:nvSpPr>
          <p:cNvPr id="19" name="Oval 18">
            <a:extLst>
              <a:ext uri="{FF2B5EF4-FFF2-40B4-BE49-F238E27FC236}">
                <a16:creationId xmlns:a16="http://schemas.microsoft.com/office/drawing/2014/main" id="{9825E055-2A8A-3332-C6AF-3553A996969D}"/>
              </a:ext>
            </a:extLst>
          </p:cNvPr>
          <p:cNvSpPr/>
          <p:nvPr/>
        </p:nvSpPr>
        <p:spPr>
          <a:xfrm>
            <a:off x="174431" y="5294799"/>
            <a:ext cx="2698228" cy="6895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Display successful message</a:t>
            </a:r>
          </a:p>
        </p:txBody>
      </p:sp>
      <p:sp>
        <p:nvSpPr>
          <p:cNvPr id="20" name="Oval 19">
            <a:extLst>
              <a:ext uri="{FF2B5EF4-FFF2-40B4-BE49-F238E27FC236}">
                <a16:creationId xmlns:a16="http://schemas.microsoft.com/office/drawing/2014/main" id="{B1E1FDF8-79C8-A43B-ABC5-CEF4A00B69D6}"/>
              </a:ext>
            </a:extLst>
          </p:cNvPr>
          <p:cNvSpPr/>
          <p:nvPr/>
        </p:nvSpPr>
        <p:spPr>
          <a:xfrm>
            <a:off x="252883" y="6112884"/>
            <a:ext cx="2541325" cy="7078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706507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8C336E-2760-59F0-730A-26E73AB95717}"/>
              </a:ext>
            </a:extLst>
          </p:cNvPr>
          <p:cNvSpPr txBox="1"/>
          <p:nvPr/>
        </p:nvSpPr>
        <p:spPr>
          <a:xfrm>
            <a:off x="554635" y="0"/>
            <a:ext cx="5102935" cy="2308324"/>
          </a:xfrm>
          <a:prstGeom prst="rect">
            <a:avLst/>
          </a:prstGeom>
          <a:noFill/>
        </p:spPr>
        <p:txBody>
          <a:bodyPr wrap="none" rtlCol="0">
            <a:spAutoFit/>
          </a:bodyPr>
          <a:lstStyle/>
          <a:p>
            <a:r>
              <a:rPr lang="en-US" sz="3600" dirty="0"/>
              <a:t>Search Student Algorithm:</a:t>
            </a:r>
          </a:p>
          <a:p>
            <a:r>
              <a:rPr lang="en-US" dirty="0"/>
              <a:t> 1. START</a:t>
            </a:r>
          </a:p>
          <a:p>
            <a:r>
              <a:rPr lang="en-US" dirty="0"/>
              <a:t> 2. Enter roll number</a:t>
            </a:r>
          </a:p>
          <a:p>
            <a:r>
              <a:rPr lang="en-US" dirty="0"/>
              <a:t> 3. Search record </a:t>
            </a:r>
          </a:p>
          <a:p>
            <a:r>
              <a:rPr lang="en-US" dirty="0"/>
              <a:t>4. If found, display record</a:t>
            </a:r>
          </a:p>
          <a:p>
            <a:r>
              <a:rPr lang="en-US" dirty="0"/>
              <a:t> 5. Otherwise display not found </a:t>
            </a:r>
          </a:p>
          <a:p>
            <a:r>
              <a:rPr lang="en-US" dirty="0"/>
              <a:t>6. STOP</a:t>
            </a:r>
            <a:endParaRPr lang="en-IN" dirty="0"/>
          </a:p>
        </p:txBody>
      </p:sp>
      <p:sp>
        <p:nvSpPr>
          <p:cNvPr id="3" name="TextBox 2">
            <a:extLst>
              <a:ext uri="{FF2B5EF4-FFF2-40B4-BE49-F238E27FC236}">
                <a16:creationId xmlns:a16="http://schemas.microsoft.com/office/drawing/2014/main" id="{D6D54465-7712-7F7E-BF55-0AA1A373E0EB}"/>
              </a:ext>
            </a:extLst>
          </p:cNvPr>
          <p:cNvSpPr txBox="1"/>
          <p:nvPr/>
        </p:nvSpPr>
        <p:spPr>
          <a:xfrm>
            <a:off x="119919" y="2258093"/>
            <a:ext cx="3596715" cy="523220"/>
          </a:xfrm>
          <a:prstGeom prst="rect">
            <a:avLst/>
          </a:prstGeom>
          <a:noFill/>
        </p:spPr>
        <p:txBody>
          <a:bodyPr wrap="square" rtlCol="0">
            <a:spAutoFit/>
          </a:bodyPr>
          <a:lstStyle/>
          <a:p>
            <a:r>
              <a:rPr lang="en-IN" sz="2800" dirty="0"/>
              <a:t>Flowchart</a:t>
            </a:r>
            <a:r>
              <a:rPr lang="en-IN" dirty="0"/>
              <a:t>:</a:t>
            </a:r>
          </a:p>
        </p:txBody>
      </p:sp>
      <p:sp>
        <p:nvSpPr>
          <p:cNvPr id="5" name="Oval 4">
            <a:extLst>
              <a:ext uri="{FF2B5EF4-FFF2-40B4-BE49-F238E27FC236}">
                <a16:creationId xmlns:a16="http://schemas.microsoft.com/office/drawing/2014/main" id="{DC31F097-9153-6B80-4A60-91A82C09135A}"/>
              </a:ext>
            </a:extLst>
          </p:cNvPr>
          <p:cNvSpPr/>
          <p:nvPr/>
        </p:nvSpPr>
        <p:spPr>
          <a:xfrm>
            <a:off x="3138" y="2672922"/>
            <a:ext cx="2743200" cy="5232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6" name="Oval 5">
            <a:extLst>
              <a:ext uri="{FF2B5EF4-FFF2-40B4-BE49-F238E27FC236}">
                <a16:creationId xmlns:a16="http://schemas.microsoft.com/office/drawing/2014/main" id="{514F9D97-FF5A-5ED6-888C-2EBB31AE8A3A}"/>
              </a:ext>
            </a:extLst>
          </p:cNvPr>
          <p:cNvSpPr/>
          <p:nvPr/>
        </p:nvSpPr>
        <p:spPr>
          <a:xfrm>
            <a:off x="0" y="3307381"/>
            <a:ext cx="2743199" cy="5232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Enter roll number</a:t>
            </a:r>
          </a:p>
        </p:txBody>
      </p:sp>
      <p:sp>
        <p:nvSpPr>
          <p:cNvPr id="7" name="Oval 6">
            <a:extLst>
              <a:ext uri="{FF2B5EF4-FFF2-40B4-BE49-F238E27FC236}">
                <a16:creationId xmlns:a16="http://schemas.microsoft.com/office/drawing/2014/main" id="{7B6642C7-15F0-652B-ED51-5BC892889AC2}"/>
              </a:ext>
            </a:extLst>
          </p:cNvPr>
          <p:cNvSpPr/>
          <p:nvPr/>
        </p:nvSpPr>
        <p:spPr>
          <a:xfrm>
            <a:off x="0" y="3941840"/>
            <a:ext cx="2848132" cy="6983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Search record</a:t>
            </a:r>
          </a:p>
        </p:txBody>
      </p:sp>
      <p:sp>
        <p:nvSpPr>
          <p:cNvPr id="8" name="Oval 7">
            <a:extLst>
              <a:ext uri="{FF2B5EF4-FFF2-40B4-BE49-F238E27FC236}">
                <a16:creationId xmlns:a16="http://schemas.microsoft.com/office/drawing/2014/main" id="{9CC417FE-5D56-A5AA-945F-0A10214B65EF}"/>
              </a:ext>
            </a:extLst>
          </p:cNvPr>
          <p:cNvSpPr/>
          <p:nvPr/>
        </p:nvSpPr>
        <p:spPr>
          <a:xfrm>
            <a:off x="71987" y="4728860"/>
            <a:ext cx="2671212" cy="6071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If found, display record</a:t>
            </a:r>
          </a:p>
        </p:txBody>
      </p:sp>
      <p:sp>
        <p:nvSpPr>
          <p:cNvPr id="9" name="Oval 8">
            <a:extLst>
              <a:ext uri="{FF2B5EF4-FFF2-40B4-BE49-F238E27FC236}">
                <a16:creationId xmlns:a16="http://schemas.microsoft.com/office/drawing/2014/main" id="{BB06E3A7-5A0A-56FD-C04B-42038C67A88A}"/>
              </a:ext>
            </a:extLst>
          </p:cNvPr>
          <p:cNvSpPr/>
          <p:nvPr/>
        </p:nvSpPr>
        <p:spPr>
          <a:xfrm>
            <a:off x="71987" y="5385850"/>
            <a:ext cx="2848132" cy="6071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Otherwise display not found STOP</a:t>
            </a:r>
            <a:endParaRPr lang="en-IN" dirty="0"/>
          </a:p>
        </p:txBody>
      </p:sp>
      <p:sp>
        <p:nvSpPr>
          <p:cNvPr id="10" name="Oval 9">
            <a:extLst>
              <a:ext uri="{FF2B5EF4-FFF2-40B4-BE49-F238E27FC236}">
                <a16:creationId xmlns:a16="http://schemas.microsoft.com/office/drawing/2014/main" id="{1DDDCDEA-D60D-4E84-7591-A67700FCC665}"/>
              </a:ext>
            </a:extLst>
          </p:cNvPr>
          <p:cNvSpPr/>
          <p:nvPr/>
        </p:nvSpPr>
        <p:spPr>
          <a:xfrm>
            <a:off x="194871" y="6215510"/>
            <a:ext cx="2743199" cy="5232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
        <p:nvSpPr>
          <p:cNvPr id="11" name="TextBox 10">
            <a:extLst>
              <a:ext uri="{FF2B5EF4-FFF2-40B4-BE49-F238E27FC236}">
                <a16:creationId xmlns:a16="http://schemas.microsoft.com/office/drawing/2014/main" id="{CF0C688C-C73F-08D2-E863-A227FC3A7A9D}"/>
              </a:ext>
            </a:extLst>
          </p:cNvPr>
          <p:cNvSpPr txBox="1"/>
          <p:nvPr/>
        </p:nvSpPr>
        <p:spPr>
          <a:xfrm>
            <a:off x="119919" y="78661"/>
            <a:ext cx="692141" cy="584775"/>
          </a:xfrm>
          <a:prstGeom prst="rect">
            <a:avLst/>
          </a:prstGeom>
          <a:noFill/>
        </p:spPr>
        <p:txBody>
          <a:bodyPr wrap="square" rtlCol="0">
            <a:spAutoFit/>
          </a:bodyPr>
          <a:lstStyle/>
          <a:p>
            <a:r>
              <a:rPr lang="en-IN" sz="3200" dirty="0"/>
              <a:t>2.</a:t>
            </a:r>
          </a:p>
        </p:txBody>
      </p:sp>
    </p:spTree>
    <p:extLst>
      <p:ext uri="{BB962C8B-B14F-4D97-AF65-F5344CB8AC3E}">
        <p14:creationId xmlns:p14="http://schemas.microsoft.com/office/powerpoint/2010/main" val="2775272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2F0D90-43BC-E1BB-C4C6-B388BFFBB911}"/>
              </a:ext>
            </a:extLst>
          </p:cNvPr>
          <p:cNvSpPr txBox="1"/>
          <p:nvPr/>
        </p:nvSpPr>
        <p:spPr>
          <a:xfrm>
            <a:off x="22612" y="-42561"/>
            <a:ext cx="4325479" cy="2893100"/>
          </a:xfrm>
          <a:prstGeom prst="rect">
            <a:avLst/>
          </a:prstGeom>
          <a:noFill/>
        </p:spPr>
        <p:txBody>
          <a:bodyPr wrap="none" rtlCol="0">
            <a:spAutoFit/>
          </a:bodyPr>
          <a:lstStyle/>
          <a:p>
            <a:r>
              <a:rPr lang="en-US" sz="2800" dirty="0"/>
              <a:t>3 Update Record Algorithm: </a:t>
            </a:r>
          </a:p>
          <a:p>
            <a:pPr marL="342900" indent="-342900">
              <a:buAutoNum type="arabicPeriod"/>
            </a:pPr>
            <a:r>
              <a:rPr lang="en-US" dirty="0"/>
              <a:t>START</a:t>
            </a:r>
          </a:p>
          <a:p>
            <a:pPr marL="342900" indent="-342900">
              <a:buAutoNum type="arabicPeriod"/>
            </a:pPr>
            <a:r>
              <a:rPr lang="en-US" dirty="0"/>
              <a:t> 2. Enter roll number</a:t>
            </a:r>
          </a:p>
          <a:p>
            <a:r>
              <a:rPr lang="en-US" dirty="0"/>
              <a:t> 3. Search record </a:t>
            </a:r>
          </a:p>
          <a:p>
            <a:r>
              <a:rPr lang="en-US" dirty="0"/>
              <a:t>4. If found, enter new details</a:t>
            </a:r>
          </a:p>
          <a:p>
            <a:r>
              <a:rPr lang="en-US" dirty="0"/>
              <a:t> 5. Update record</a:t>
            </a:r>
          </a:p>
          <a:p>
            <a:r>
              <a:rPr lang="en-US" dirty="0"/>
              <a:t> 6. Otherwise display not found</a:t>
            </a:r>
          </a:p>
          <a:p>
            <a:r>
              <a:rPr lang="en-US" dirty="0"/>
              <a:t> 7. STOP </a:t>
            </a:r>
          </a:p>
          <a:p>
            <a:r>
              <a:rPr lang="en-US" sz="2800" dirty="0"/>
              <a:t>Flowchart:</a:t>
            </a:r>
            <a:endParaRPr lang="en-IN" sz="2800" dirty="0"/>
          </a:p>
        </p:txBody>
      </p:sp>
      <p:sp>
        <p:nvSpPr>
          <p:cNvPr id="4" name="Oval 3">
            <a:extLst>
              <a:ext uri="{FF2B5EF4-FFF2-40B4-BE49-F238E27FC236}">
                <a16:creationId xmlns:a16="http://schemas.microsoft.com/office/drawing/2014/main" id="{C0345064-2521-5350-7557-8D470F0C9F3D}"/>
              </a:ext>
            </a:extLst>
          </p:cNvPr>
          <p:cNvSpPr/>
          <p:nvPr/>
        </p:nvSpPr>
        <p:spPr>
          <a:xfrm>
            <a:off x="22612" y="2734876"/>
            <a:ext cx="3294027" cy="6199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5" name="Oval 4">
            <a:extLst>
              <a:ext uri="{FF2B5EF4-FFF2-40B4-BE49-F238E27FC236}">
                <a16:creationId xmlns:a16="http://schemas.microsoft.com/office/drawing/2014/main" id="{9ADFD574-E452-9142-18E6-14DA06475B3E}"/>
              </a:ext>
            </a:extLst>
          </p:cNvPr>
          <p:cNvSpPr/>
          <p:nvPr/>
        </p:nvSpPr>
        <p:spPr>
          <a:xfrm>
            <a:off x="22612" y="3459363"/>
            <a:ext cx="3294027" cy="6199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Enter roll number</a:t>
            </a:r>
          </a:p>
        </p:txBody>
      </p:sp>
      <p:sp>
        <p:nvSpPr>
          <p:cNvPr id="6" name="Oval 5">
            <a:extLst>
              <a:ext uri="{FF2B5EF4-FFF2-40B4-BE49-F238E27FC236}">
                <a16:creationId xmlns:a16="http://schemas.microsoft.com/office/drawing/2014/main" id="{E15E5875-98B5-D988-7159-40F3A9AFF319}"/>
              </a:ext>
            </a:extLst>
          </p:cNvPr>
          <p:cNvSpPr/>
          <p:nvPr/>
        </p:nvSpPr>
        <p:spPr>
          <a:xfrm>
            <a:off x="22612" y="4113649"/>
            <a:ext cx="3440624" cy="6199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Search record</a:t>
            </a:r>
          </a:p>
        </p:txBody>
      </p:sp>
      <p:sp>
        <p:nvSpPr>
          <p:cNvPr id="7" name="Oval 6">
            <a:extLst>
              <a:ext uri="{FF2B5EF4-FFF2-40B4-BE49-F238E27FC236}">
                <a16:creationId xmlns:a16="http://schemas.microsoft.com/office/drawing/2014/main" id="{C1EF1653-9F20-3BC5-D1D2-AFFF3557634D}"/>
              </a:ext>
            </a:extLst>
          </p:cNvPr>
          <p:cNvSpPr/>
          <p:nvPr/>
        </p:nvSpPr>
        <p:spPr>
          <a:xfrm>
            <a:off x="169209" y="4767936"/>
            <a:ext cx="3294027" cy="6506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If found, enter new details</a:t>
            </a:r>
            <a:endParaRPr lang="en-IN" dirty="0"/>
          </a:p>
        </p:txBody>
      </p:sp>
      <p:sp>
        <p:nvSpPr>
          <p:cNvPr id="8" name="Oval 7">
            <a:extLst>
              <a:ext uri="{FF2B5EF4-FFF2-40B4-BE49-F238E27FC236}">
                <a16:creationId xmlns:a16="http://schemas.microsoft.com/office/drawing/2014/main" id="{CB488498-4D5D-8C1B-80AC-BDA1D2E8AAC5}"/>
              </a:ext>
            </a:extLst>
          </p:cNvPr>
          <p:cNvSpPr/>
          <p:nvPr/>
        </p:nvSpPr>
        <p:spPr>
          <a:xfrm>
            <a:off x="169208" y="5512313"/>
            <a:ext cx="3294027" cy="6199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Update record</a:t>
            </a:r>
          </a:p>
        </p:txBody>
      </p:sp>
      <p:sp>
        <p:nvSpPr>
          <p:cNvPr id="9" name="Oval 8">
            <a:extLst>
              <a:ext uri="{FF2B5EF4-FFF2-40B4-BE49-F238E27FC236}">
                <a16:creationId xmlns:a16="http://schemas.microsoft.com/office/drawing/2014/main" id="{6775617C-F072-2C62-96B9-9C704FF93DF5}"/>
              </a:ext>
            </a:extLst>
          </p:cNvPr>
          <p:cNvSpPr/>
          <p:nvPr/>
        </p:nvSpPr>
        <p:spPr>
          <a:xfrm>
            <a:off x="309968" y="6197349"/>
            <a:ext cx="3006671" cy="6506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894044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8A3F3F-4ACF-5DD7-19F5-9D8435C45C50}"/>
              </a:ext>
            </a:extLst>
          </p:cNvPr>
          <p:cNvSpPr txBox="1"/>
          <p:nvPr/>
        </p:nvSpPr>
        <p:spPr>
          <a:xfrm>
            <a:off x="134911" y="0"/>
            <a:ext cx="3829125" cy="2277547"/>
          </a:xfrm>
          <a:prstGeom prst="rect">
            <a:avLst/>
          </a:prstGeom>
          <a:noFill/>
        </p:spPr>
        <p:txBody>
          <a:bodyPr wrap="none" rtlCol="0">
            <a:spAutoFit/>
          </a:bodyPr>
          <a:lstStyle/>
          <a:p>
            <a:r>
              <a:rPr lang="en-US" sz="2400" dirty="0"/>
              <a:t>4. Display Records Algorithm:</a:t>
            </a:r>
          </a:p>
          <a:p>
            <a:r>
              <a:rPr lang="en-US" dirty="0"/>
              <a:t> 1. START </a:t>
            </a:r>
          </a:p>
          <a:p>
            <a:r>
              <a:rPr lang="en-US" dirty="0"/>
              <a:t>2. Check student records </a:t>
            </a:r>
          </a:p>
          <a:p>
            <a:r>
              <a:rPr lang="en-US" dirty="0"/>
              <a:t>3. If records exist, display all records </a:t>
            </a:r>
          </a:p>
          <a:p>
            <a:r>
              <a:rPr lang="en-US" dirty="0"/>
              <a:t>4. Otherwise display no records </a:t>
            </a:r>
          </a:p>
          <a:p>
            <a:r>
              <a:rPr lang="en-US" dirty="0"/>
              <a:t>5. STOP </a:t>
            </a:r>
          </a:p>
          <a:p>
            <a:r>
              <a:rPr lang="en-US" sz="2800" dirty="0"/>
              <a:t>Flowchart:</a:t>
            </a:r>
            <a:endParaRPr lang="en-IN" sz="2800" dirty="0"/>
          </a:p>
        </p:txBody>
      </p:sp>
      <p:sp>
        <p:nvSpPr>
          <p:cNvPr id="3" name="Oval 2">
            <a:extLst>
              <a:ext uri="{FF2B5EF4-FFF2-40B4-BE49-F238E27FC236}">
                <a16:creationId xmlns:a16="http://schemas.microsoft.com/office/drawing/2014/main" id="{A7261B1D-1741-115E-2B36-39DB71536830}"/>
              </a:ext>
            </a:extLst>
          </p:cNvPr>
          <p:cNvSpPr/>
          <p:nvPr/>
        </p:nvSpPr>
        <p:spPr>
          <a:xfrm>
            <a:off x="134911" y="2277547"/>
            <a:ext cx="2443397" cy="49563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7" name="Oval 6">
            <a:extLst>
              <a:ext uri="{FF2B5EF4-FFF2-40B4-BE49-F238E27FC236}">
                <a16:creationId xmlns:a16="http://schemas.microsoft.com/office/drawing/2014/main" id="{D738B5C7-55F5-BE46-1177-FF51C5C5454F}"/>
              </a:ext>
            </a:extLst>
          </p:cNvPr>
          <p:cNvSpPr/>
          <p:nvPr/>
        </p:nvSpPr>
        <p:spPr>
          <a:xfrm>
            <a:off x="202366" y="2925391"/>
            <a:ext cx="2308485" cy="6530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Check student records</a:t>
            </a:r>
          </a:p>
        </p:txBody>
      </p:sp>
      <p:sp>
        <p:nvSpPr>
          <p:cNvPr id="8" name="Oval 7">
            <a:extLst>
              <a:ext uri="{FF2B5EF4-FFF2-40B4-BE49-F238E27FC236}">
                <a16:creationId xmlns:a16="http://schemas.microsoft.com/office/drawing/2014/main" id="{FDF76CFB-A57B-5946-27C1-D07A38A04AD2}"/>
              </a:ext>
            </a:extLst>
          </p:cNvPr>
          <p:cNvSpPr/>
          <p:nvPr/>
        </p:nvSpPr>
        <p:spPr>
          <a:xfrm>
            <a:off x="134911" y="3730631"/>
            <a:ext cx="2375940" cy="8798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If records exist, display all records</a:t>
            </a:r>
            <a:endParaRPr lang="en-IN" dirty="0"/>
          </a:p>
        </p:txBody>
      </p:sp>
      <p:sp>
        <p:nvSpPr>
          <p:cNvPr id="9" name="Oval 8">
            <a:extLst>
              <a:ext uri="{FF2B5EF4-FFF2-40B4-BE49-F238E27FC236}">
                <a16:creationId xmlns:a16="http://schemas.microsoft.com/office/drawing/2014/main" id="{788AFA69-3FA0-0B37-5118-666040CB68BE}"/>
              </a:ext>
            </a:extLst>
          </p:cNvPr>
          <p:cNvSpPr/>
          <p:nvPr/>
        </p:nvSpPr>
        <p:spPr>
          <a:xfrm>
            <a:off x="202369" y="4663622"/>
            <a:ext cx="2375939" cy="8798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Otherwise display no records</a:t>
            </a:r>
          </a:p>
        </p:txBody>
      </p:sp>
      <p:sp>
        <p:nvSpPr>
          <p:cNvPr id="10" name="Oval 9">
            <a:extLst>
              <a:ext uri="{FF2B5EF4-FFF2-40B4-BE49-F238E27FC236}">
                <a16:creationId xmlns:a16="http://schemas.microsoft.com/office/drawing/2014/main" id="{56045431-0BB9-3980-19EC-FFFDEF42481B}"/>
              </a:ext>
            </a:extLst>
          </p:cNvPr>
          <p:cNvSpPr/>
          <p:nvPr/>
        </p:nvSpPr>
        <p:spPr>
          <a:xfrm>
            <a:off x="134911" y="5626832"/>
            <a:ext cx="2733385" cy="6370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1909762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F97EFE-7315-066A-5EB7-035867595E14}"/>
              </a:ext>
            </a:extLst>
          </p:cNvPr>
          <p:cNvSpPr txBox="1"/>
          <p:nvPr/>
        </p:nvSpPr>
        <p:spPr>
          <a:xfrm>
            <a:off x="269823" y="194872"/>
            <a:ext cx="4748736" cy="2616101"/>
          </a:xfrm>
          <a:prstGeom prst="rect">
            <a:avLst/>
          </a:prstGeom>
          <a:noFill/>
        </p:spPr>
        <p:txBody>
          <a:bodyPr wrap="none" rtlCol="0">
            <a:spAutoFit/>
          </a:bodyPr>
          <a:lstStyle/>
          <a:p>
            <a:r>
              <a:rPr lang="en-US" sz="2800" dirty="0"/>
              <a:t>5. Calculate Average Algorithm:</a:t>
            </a:r>
          </a:p>
          <a:p>
            <a:r>
              <a:rPr lang="en-US" dirty="0"/>
              <a:t> 1. START</a:t>
            </a:r>
          </a:p>
          <a:p>
            <a:r>
              <a:rPr lang="en-US" dirty="0"/>
              <a:t> 2. Enter marks </a:t>
            </a:r>
          </a:p>
          <a:p>
            <a:r>
              <a:rPr lang="en-US" dirty="0"/>
              <a:t>3. Add all marks</a:t>
            </a:r>
          </a:p>
          <a:p>
            <a:r>
              <a:rPr lang="en-US" dirty="0"/>
              <a:t> 4. Divide total by number of subjects</a:t>
            </a:r>
          </a:p>
          <a:p>
            <a:r>
              <a:rPr lang="en-US" dirty="0"/>
              <a:t> 5. Display average</a:t>
            </a:r>
          </a:p>
          <a:p>
            <a:r>
              <a:rPr lang="en-US" dirty="0"/>
              <a:t> 6. STOP</a:t>
            </a:r>
          </a:p>
          <a:p>
            <a:r>
              <a:rPr lang="en-US" dirty="0"/>
              <a:t> </a:t>
            </a:r>
            <a:r>
              <a:rPr lang="en-US" sz="2800" dirty="0"/>
              <a:t>Flowchart</a:t>
            </a:r>
            <a:r>
              <a:rPr lang="en-US" dirty="0"/>
              <a:t>:</a:t>
            </a:r>
            <a:endParaRPr lang="en-IN" dirty="0"/>
          </a:p>
        </p:txBody>
      </p:sp>
      <p:sp>
        <p:nvSpPr>
          <p:cNvPr id="3" name="Oval 2">
            <a:extLst>
              <a:ext uri="{FF2B5EF4-FFF2-40B4-BE49-F238E27FC236}">
                <a16:creationId xmlns:a16="http://schemas.microsoft.com/office/drawing/2014/main" id="{D95D5AD1-9605-4108-FC44-DFAA7F88A46E}"/>
              </a:ext>
            </a:extLst>
          </p:cNvPr>
          <p:cNvSpPr/>
          <p:nvPr/>
        </p:nvSpPr>
        <p:spPr>
          <a:xfrm>
            <a:off x="52465" y="2792075"/>
            <a:ext cx="2698229" cy="7794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STRAT</a:t>
            </a:r>
          </a:p>
        </p:txBody>
      </p:sp>
      <p:sp>
        <p:nvSpPr>
          <p:cNvPr id="6" name="Oval 5">
            <a:extLst>
              <a:ext uri="{FF2B5EF4-FFF2-40B4-BE49-F238E27FC236}">
                <a16:creationId xmlns:a16="http://schemas.microsoft.com/office/drawing/2014/main" id="{BF140889-D20D-A1B6-AAC7-F66E348DA99B}"/>
              </a:ext>
            </a:extLst>
          </p:cNvPr>
          <p:cNvSpPr/>
          <p:nvPr/>
        </p:nvSpPr>
        <p:spPr>
          <a:xfrm>
            <a:off x="0" y="3607632"/>
            <a:ext cx="2698229" cy="7794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Check student records</a:t>
            </a:r>
          </a:p>
        </p:txBody>
      </p:sp>
      <p:sp>
        <p:nvSpPr>
          <p:cNvPr id="8" name="Oval 7">
            <a:extLst>
              <a:ext uri="{FF2B5EF4-FFF2-40B4-BE49-F238E27FC236}">
                <a16:creationId xmlns:a16="http://schemas.microsoft.com/office/drawing/2014/main" id="{9A550C22-C840-1FED-80FA-7A4FFE9D5DBA}"/>
              </a:ext>
            </a:extLst>
          </p:cNvPr>
          <p:cNvSpPr/>
          <p:nvPr/>
        </p:nvSpPr>
        <p:spPr>
          <a:xfrm>
            <a:off x="104932" y="6112856"/>
            <a:ext cx="2593297" cy="7451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
        <p:nvSpPr>
          <p:cNvPr id="10" name="Oval 9">
            <a:extLst>
              <a:ext uri="{FF2B5EF4-FFF2-40B4-BE49-F238E27FC236}">
                <a16:creationId xmlns:a16="http://schemas.microsoft.com/office/drawing/2014/main" id="{2E4E207B-F2D2-DF04-48E9-83CDED9940D6}"/>
              </a:ext>
            </a:extLst>
          </p:cNvPr>
          <p:cNvSpPr/>
          <p:nvPr/>
        </p:nvSpPr>
        <p:spPr>
          <a:xfrm>
            <a:off x="104932" y="4459257"/>
            <a:ext cx="2698229" cy="7794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If records exist, display all records</a:t>
            </a:r>
            <a:endParaRPr lang="en-IN"/>
          </a:p>
        </p:txBody>
      </p:sp>
      <p:sp>
        <p:nvSpPr>
          <p:cNvPr id="12" name="Oval 11">
            <a:extLst>
              <a:ext uri="{FF2B5EF4-FFF2-40B4-BE49-F238E27FC236}">
                <a16:creationId xmlns:a16="http://schemas.microsoft.com/office/drawing/2014/main" id="{13A2A507-C658-76E6-F451-A3787884123C}"/>
              </a:ext>
            </a:extLst>
          </p:cNvPr>
          <p:cNvSpPr/>
          <p:nvPr/>
        </p:nvSpPr>
        <p:spPr>
          <a:xfrm>
            <a:off x="104932" y="5268884"/>
            <a:ext cx="2698229" cy="7794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Otherwise display no records</a:t>
            </a:r>
          </a:p>
        </p:txBody>
      </p:sp>
    </p:spTree>
    <p:extLst>
      <p:ext uri="{BB962C8B-B14F-4D97-AF65-F5344CB8AC3E}">
        <p14:creationId xmlns:p14="http://schemas.microsoft.com/office/powerpoint/2010/main" val="1197261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73472B-F7B5-CC91-E4BD-586CEB0B6EF4}"/>
              </a:ext>
            </a:extLst>
          </p:cNvPr>
          <p:cNvSpPr txBox="1"/>
          <p:nvPr/>
        </p:nvSpPr>
        <p:spPr>
          <a:xfrm>
            <a:off x="0" y="0"/>
            <a:ext cx="4970870" cy="2739211"/>
          </a:xfrm>
          <a:prstGeom prst="rect">
            <a:avLst/>
          </a:prstGeom>
          <a:noFill/>
        </p:spPr>
        <p:txBody>
          <a:bodyPr wrap="square" rtlCol="0">
            <a:spAutoFit/>
          </a:bodyPr>
          <a:lstStyle/>
          <a:p>
            <a:r>
              <a:rPr lang="en-US" sz="2800" dirty="0"/>
              <a:t>6 Calculate Average Algorithm:</a:t>
            </a:r>
          </a:p>
          <a:p>
            <a:r>
              <a:rPr lang="en-US" dirty="0"/>
              <a:t> 1. START </a:t>
            </a:r>
          </a:p>
          <a:p>
            <a:r>
              <a:rPr lang="en-US" dirty="0"/>
              <a:t>2. Enter marks</a:t>
            </a:r>
          </a:p>
          <a:p>
            <a:r>
              <a:rPr lang="en-US" dirty="0"/>
              <a:t> 3. Add all marks</a:t>
            </a:r>
          </a:p>
          <a:p>
            <a:r>
              <a:rPr lang="en-US" dirty="0"/>
              <a:t> 4. Divide total by number of subjects</a:t>
            </a:r>
          </a:p>
          <a:p>
            <a:r>
              <a:rPr lang="en-US" dirty="0"/>
              <a:t> 5. Display average</a:t>
            </a:r>
          </a:p>
          <a:p>
            <a:r>
              <a:rPr lang="en-US" dirty="0"/>
              <a:t> 6. STOP </a:t>
            </a:r>
          </a:p>
          <a:p>
            <a:r>
              <a:rPr lang="en-US" sz="3600" dirty="0"/>
              <a:t>Flowchart</a:t>
            </a:r>
            <a:endParaRPr lang="en-IN" sz="3600" dirty="0"/>
          </a:p>
        </p:txBody>
      </p:sp>
      <p:sp>
        <p:nvSpPr>
          <p:cNvPr id="3" name="Oval 2">
            <a:extLst>
              <a:ext uri="{FF2B5EF4-FFF2-40B4-BE49-F238E27FC236}">
                <a16:creationId xmlns:a16="http://schemas.microsoft.com/office/drawing/2014/main" id="{8CE8D224-A14A-1F09-D94E-4AC0D464F31C}"/>
              </a:ext>
            </a:extLst>
          </p:cNvPr>
          <p:cNvSpPr/>
          <p:nvPr/>
        </p:nvSpPr>
        <p:spPr>
          <a:xfrm>
            <a:off x="0" y="2674364"/>
            <a:ext cx="2668249" cy="47944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5" name="Oval 4">
            <a:extLst>
              <a:ext uri="{FF2B5EF4-FFF2-40B4-BE49-F238E27FC236}">
                <a16:creationId xmlns:a16="http://schemas.microsoft.com/office/drawing/2014/main" id="{27D50B06-3497-9853-794A-12D350408759}"/>
              </a:ext>
            </a:extLst>
          </p:cNvPr>
          <p:cNvSpPr/>
          <p:nvPr/>
        </p:nvSpPr>
        <p:spPr>
          <a:xfrm>
            <a:off x="0" y="3232447"/>
            <a:ext cx="2668249" cy="60436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Enter marks</a:t>
            </a:r>
            <a:endParaRPr lang="en-IN" dirty="0"/>
          </a:p>
        </p:txBody>
      </p:sp>
      <p:sp>
        <p:nvSpPr>
          <p:cNvPr id="7" name="Oval 6">
            <a:extLst>
              <a:ext uri="{FF2B5EF4-FFF2-40B4-BE49-F238E27FC236}">
                <a16:creationId xmlns:a16="http://schemas.microsoft.com/office/drawing/2014/main" id="{E521919D-1807-A333-1AD9-9826C81FCEAC}"/>
              </a:ext>
            </a:extLst>
          </p:cNvPr>
          <p:cNvSpPr/>
          <p:nvPr/>
        </p:nvSpPr>
        <p:spPr>
          <a:xfrm>
            <a:off x="137408" y="3880122"/>
            <a:ext cx="2668249" cy="6932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Add all marks</a:t>
            </a:r>
          </a:p>
        </p:txBody>
      </p:sp>
      <p:sp>
        <p:nvSpPr>
          <p:cNvPr id="9" name="Oval 8">
            <a:extLst>
              <a:ext uri="{FF2B5EF4-FFF2-40B4-BE49-F238E27FC236}">
                <a16:creationId xmlns:a16="http://schemas.microsoft.com/office/drawing/2014/main" id="{210CBDF4-45B6-C0BC-CC83-E186BC1205EA}"/>
              </a:ext>
            </a:extLst>
          </p:cNvPr>
          <p:cNvSpPr/>
          <p:nvPr/>
        </p:nvSpPr>
        <p:spPr>
          <a:xfrm>
            <a:off x="132406" y="4631072"/>
            <a:ext cx="2668249" cy="6932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Divide total by number of subjects</a:t>
            </a:r>
            <a:endParaRPr lang="en-IN" dirty="0"/>
          </a:p>
        </p:txBody>
      </p:sp>
      <p:sp>
        <p:nvSpPr>
          <p:cNvPr id="11" name="Oval 10">
            <a:extLst>
              <a:ext uri="{FF2B5EF4-FFF2-40B4-BE49-F238E27FC236}">
                <a16:creationId xmlns:a16="http://schemas.microsoft.com/office/drawing/2014/main" id="{ADF09FF3-C196-22F0-FC87-053F8037A705}"/>
              </a:ext>
            </a:extLst>
          </p:cNvPr>
          <p:cNvSpPr/>
          <p:nvPr/>
        </p:nvSpPr>
        <p:spPr>
          <a:xfrm>
            <a:off x="164882" y="5413575"/>
            <a:ext cx="2668249" cy="6932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Display average</a:t>
            </a:r>
          </a:p>
        </p:txBody>
      </p:sp>
      <p:sp>
        <p:nvSpPr>
          <p:cNvPr id="13" name="Oval 12">
            <a:extLst>
              <a:ext uri="{FF2B5EF4-FFF2-40B4-BE49-F238E27FC236}">
                <a16:creationId xmlns:a16="http://schemas.microsoft.com/office/drawing/2014/main" id="{907ED9FB-B34F-9969-A107-0E0BB78DD980}"/>
              </a:ext>
            </a:extLst>
          </p:cNvPr>
          <p:cNvSpPr/>
          <p:nvPr/>
        </p:nvSpPr>
        <p:spPr>
          <a:xfrm>
            <a:off x="257314" y="6148921"/>
            <a:ext cx="2668249" cy="6932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3337087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6130BD-5DAB-028B-034C-C1102C5C6E63}"/>
              </a:ext>
            </a:extLst>
          </p:cNvPr>
          <p:cNvSpPr txBox="1"/>
          <p:nvPr/>
        </p:nvSpPr>
        <p:spPr>
          <a:xfrm>
            <a:off x="164893" y="0"/>
            <a:ext cx="4918591" cy="2185214"/>
          </a:xfrm>
          <a:prstGeom prst="rect">
            <a:avLst/>
          </a:prstGeom>
          <a:noFill/>
        </p:spPr>
        <p:txBody>
          <a:bodyPr wrap="none" rtlCol="0">
            <a:spAutoFit/>
          </a:bodyPr>
          <a:lstStyle/>
          <a:p>
            <a:r>
              <a:rPr lang="en-US" sz="2800" dirty="0"/>
              <a:t>7</a:t>
            </a:r>
            <a:r>
              <a:rPr lang="en-US" dirty="0"/>
              <a:t>. </a:t>
            </a:r>
            <a:r>
              <a:rPr lang="en-US" sz="2800" dirty="0"/>
              <a:t>Find Highest Scorer Algorithm:</a:t>
            </a:r>
          </a:p>
          <a:p>
            <a:r>
              <a:rPr lang="en-US" dirty="0"/>
              <a:t> 1. START</a:t>
            </a:r>
          </a:p>
          <a:p>
            <a:r>
              <a:rPr lang="en-US" dirty="0"/>
              <a:t> 2. Read student marks</a:t>
            </a:r>
          </a:p>
          <a:p>
            <a:r>
              <a:rPr lang="en-US" dirty="0"/>
              <a:t> 3. Compare marks</a:t>
            </a:r>
          </a:p>
          <a:p>
            <a:r>
              <a:rPr lang="en-US" dirty="0"/>
              <a:t> 4. Find highest marks</a:t>
            </a:r>
          </a:p>
          <a:p>
            <a:r>
              <a:rPr lang="en-US" dirty="0"/>
              <a:t> 5. Display student name</a:t>
            </a:r>
          </a:p>
          <a:p>
            <a:r>
              <a:rPr lang="en-US" dirty="0"/>
              <a:t> 6. STOP</a:t>
            </a:r>
            <a:endParaRPr lang="en-IN" dirty="0"/>
          </a:p>
        </p:txBody>
      </p:sp>
      <p:sp>
        <p:nvSpPr>
          <p:cNvPr id="3" name="TextBox 2">
            <a:extLst>
              <a:ext uri="{FF2B5EF4-FFF2-40B4-BE49-F238E27FC236}">
                <a16:creationId xmlns:a16="http://schemas.microsoft.com/office/drawing/2014/main" id="{8427357A-3828-9F3F-60BA-9E2BC27477E9}"/>
              </a:ext>
            </a:extLst>
          </p:cNvPr>
          <p:cNvSpPr txBox="1"/>
          <p:nvPr/>
        </p:nvSpPr>
        <p:spPr>
          <a:xfrm>
            <a:off x="164893" y="2035312"/>
            <a:ext cx="1839734" cy="584775"/>
          </a:xfrm>
          <a:prstGeom prst="rect">
            <a:avLst/>
          </a:prstGeom>
          <a:noFill/>
        </p:spPr>
        <p:txBody>
          <a:bodyPr wrap="none" rtlCol="0">
            <a:spAutoFit/>
          </a:bodyPr>
          <a:lstStyle/>
          <a:p>
            <a:r>
              <a:rPr lang="en-IN" sz="3200" dirty="0"/>
              <a:t>Flowchart</a:t>
            </a:r>
          </a:p>
        </p:txBody>
      </p:sp>
      <p:sp>
        <p:nvSpPr>
          <p:cNvPr id="4" name="Oval 3">
            <a:extLst>
              <a:ext uri="{FF2B5EF4-FFF2-40B4-BE49-F238E27FC236}">
                <a16:creationId xmlns:a16="http://schemas.microsoft.com/office/drawing/2014/main" id="{3693B84A-2805-5898-FC03-DE541DDC9463}"/>
              </a:ext>
            </a:extLst>
          </p:cNvPr>
          <p:cNvSpPr/>
          <p:nvPr/>
        </p:nvSpPr>
        <p:spPr>
          <a:xfrm>
            <a:off x="145848" y="2620087"/>
            <a:ext cx="2938072" cy="584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6" name="Oval 5">
            <a:extLst>
              <a:ext uri="{FF2B5EF4-FFF2-40B4-BE49-F238E27FC236}">
                <a16:creationId xmlns:a16="http://schemas.microsoft.com/office/drawing/2014/main" id="{0BC5AC2D-9A5D-BBAA-3ABE-AEE6C3D0FE29}"/>
              </a:ext>
            </a:extLst>
          </p:cNvPr>
          <p:cNvSpPr/>
          <p:nvPr/>
        </p:nvSpPr>
        <p:spPr>
          <a:xfrm>
            <a:off x="164893" y="3347347"/>
            <a:ext cx="2938072" cy="584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Read student marks</a:t>
            </a:r>
          </a:p>
        </p:txBody>
      </p:sp>
      <p:sp>
        <p:nvSpPr>
          <p:cNvPr id="8" name="Oval 7">
            <a:extLst>
              <a:ext uri="{FF2B5EF4-FFF2-40B4-BE49-F238E27FC236}">
                <a16:creationId xmlns:a16="http://schemas.microsoft.com/office/drawing/2014/main" id="{55432C1D-72EA-44E4-70F6-DF18EFE2883A}"/>
              </a:ext>
            </a:extLst>
          </p:cNvPr>
          <p:cNvSpPr/>
          <p:nvPr/>
        </p:nvSpPr>
        <p:spPr>
          <a:xfrm>
            <a:off x="220800" y="4088012"/>
            <a:ext cx="2938072" cy="584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Compare marks</a:t>
            </a:r>
            <a:endParaRPr lang="en-IN" dirty="0"/>
          </a:p>
        </p:txBody>
      </p:sp>
      <p:sp>
        <p:nvSpPr>
          <p:cNvPr id="10" name="Oval 9">
            <a:extLst>
              <a:ext uri="{FF2B5EF4-FFF2-40B4-BE49-F238E27FC236}">
                <a16:creationId xmlns:a16="http://schemas.microsoft.com/office/drawing/2014/main" id="{EB4DBC86-B373-2C3C-D9B6-5F8CF482C5A1}"/>
              </a:ext>
            </a:extLst>
          </p:cNvPr>
          <p:cNvSpPr/>
          <p:nvPr/>
        </p:nvSpPr>
        <p:spPr>
          <a:xfrm>
            <a:off x="332284" y="4790033"/>
            <a:ext cx="2938072" cy="584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Find highest marks</a:t>
            </a:r>
          </a:p>
        </p:txBody>
      </p:sp>
      <p:sp>
        <p:nvSpPr>
          <p:cNvPr id="12" name="Oval 11">
            <a:extLst>
              <a:ext uri="{FF2B5EF4-FFF2-40B4-BE49-F238E27FC236}">
                <a16:creationId xmlns:a16="http://schemas.microsoft.com/office/drawing/2014/main" id="{10D105F7-B0D1-2CDF-43D0-FC7FB71DFC26}"/>
              </a:ext>
            </a:extLst>
          </p:cNvPr>
          <p:cNvSpPr/>
          <p:nvPr/>
        </p:nvSpPr>
        <p:spPr>
          <a:xfrm>
            <a:off x="332284" y="5492054"/>
            <a:ext cx="2938072" cy="584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Display student name</a:t>
            </a:r>
            <a:endParaRPr lang="en-IN" dirty="0"/>
          </a:p>
        </p:txBody>
      </p:sp>
      <p:sp>
        <p:nvSpPr>
          <p:cNvPr id="14" name="Oval 13">
            <a:extLst>
              <a:ext uri="{FF2B5EF4-FFF2-40B4-BE49-F238E27FC236}">
                <a16:creationId xmlns:a16="http://schemas.microsoft.com/office/drawing/2014/main" id="{ACBD6BDA-50CE-9AC3-7FE2-007A8CE48337}"/>
              </a:ext>
            </a:extLst>
          </p:cNvPr>
          <p:cNvSpPr/>
          <p:nvPr/>
        </p:nvSpPr>
        <p:spPr>
          <a:xfrm>
            <a:off x="332284" y="6194075"/>
            <a:ext cx="2938072" cy="584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3278351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8AA00E-E572-48B5-6528-6CC5ED9AE138}"/>
              </a:ext>
            </a:extLst>
          </p:cNvPr>
          <p:cNvSpPr txBox="1"/>
          <p:nvPr/>
        </p:nvSpPr>
        <p:spPr>
          <a:xfrm>
            <a:off x="344774" y="194871"/>
            <a:ext cx="4820230" cy="2277547"/>
          </a:xfrm>
          <a:prstGeom prst="rect">
            <a:avLst/>
          </a:prstGeom>
          <a:noFill/>
        </p:spPr>
        <p:txBody>
          <a:bodyPr wrap="none" rtlCol="0">
            <a:spAutoFit/>
          </a:bodyPr>
          <a:lstStyle/>
          <a:p>
            <a:r>
              <a:rPr lang="en-US" sz="2800" dirty="0"/>
              <a:t>8 List by Department Algorithm</a:t>
            </a:r>
            <a:r>
              <a:rPr lang="en-US" dirty="0"/>
              <a:t>:</a:t>
            </a:r>
          </a:p>
          <a:p>
            <a:r>
              <a:rPr lang="en-US" dirty="0"/>
              <a:t> 1. START</a:t>
            </a:r>
          </a:p>
          <a:p>
            <a:r>
              <a:rPr lang="en-US" dirty="0"/>
              <a:t> 2. Enter department</a:t>
            </a:r>
          </a:p>
          <a:p>
            <a:r>
              <a:rPr lang="en-US" dirty="0"/>
              <a:t> 3. Check all records</a:t>
            </a:r>
          </a:p>
          <a:p>
            <a:r>
              <a:rPr lang="en-US" dirty="0"/>
              <a:t> 4. Display matching students</a:t>
            </a:r>
          </a:p>
          <a:p>
            <a:r>
              <a:rPr lang="en-US" dirty="0"/>
              <a:t> 5. STOP</a:t>
            </a:r>
          </a:p>
          <a:p>
            <a:r>
              <a:rPr lang="en-US" dirty="0"/>
              <a:t> </a:t>
            </a:r>
            <a:r>
              <a:rPr lang="en-US" sz="2400" dirty="0"/>
              <a:t>Flowchart: </a:t>
            </a:r>
            <a:endParaRPr lang="en-IN" sz="2400" dirty="0"/>
          </a:p>
        </p:txBody>
      </p:sp>
      <p:sp>
        <p:nvSpPr>
          <p:cNvPr id="3" name="Oval 2">
            <a:extLst>
              <a:ext uri="{FF2B5EF4-FFF2-40B4-BE49-F238E27FC236}">
                <a16:creationId xmlns:a16="http://schemas.microsoft.com/office/drawing/2014/main" id="{6137703D-85D9-20A3-A021-9DF1B05DF5CF}"/>
              </a:ext>
            </a:extLst>
          </p:cNvPr>
          <p:cNvSpPr/>
          <p:nvPr/>
        </p:nvSpPr>
        <p:spPr>
          <a:xfrm>
            <a:off x="344774" y="2578308"/>
            <a:ext cx="2638269" cy="614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5" name="Oval 4">
            <a:extLst>
              <a:ext uri="{FF2B5EF4-FFF2-40B4-BE49-F238E27FC236}">
                <a16:creationId xmlns:a16="http://schemas.microsoft.com/office/drawing/2014/main" id="{53ED3097-20C9-EF07-95D3-60CBFEA6846E}"/>
              </a:ext>
            </a:extLst>
          </p:cNvPr>
          <p:cNvSpPr/>
          <p:nvPr/>
        </p:nvSpPr>
        <p:spPr>
          <a:xfrm>
            <a:off x="344773" y="3296296"/>
            <a:ext cx="2638269" cy="614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Enter department</a:t>
            </a:r>
            <a:endParaRPr lang="en-IN" dirty="0"/>
          </a:p>
        </p:txBody>
      </p:sp>
      <p:sp>
        <p:nvSpPr>
          <p:cNvPr id="7" name="Oval 6">
            <a:extLst>
              <a:ext uri="{FF2B5EF4-FFF2-40B4-BE49-F238E27FC236}">
                <a16:creationId xmlns:a16="http://schemas.microsoft.com/office/drawing/2014/main" id="{A8874F3E-1314-5EB2-7878-7FB22971D90B}"/>
              </a:ext>
            </a:extLst>
          </p:cNvPr>
          <p:cNvSpPr/>
          <p:nvPr/>
        </p:nvSpPr>
        <p:spPr>
          <a:xfrm>
            <a:off x="344773" y="4014284"/>
            <a:ext cx="2638269" cy="614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Check all records</a:t>
            </a:r>
          </a:p>
        </p:txBody>
      </p:sp>
      <p:sp>
        <p:nvSpPr>
          <p:cNvPr id="9" name="Oval 8">
            <a:extLst>
              <a:ext uri="{FF2B5EF4-FFF2-40B4-BE49-F238E27FC236}">
                <a16:creationId xmlns:a16="http://schemas.microsoft.com/office/drawing/2014/main" id="{4E067C5C-F22A-09B8-3827-6C604C5FA403}"/>
              </a:ext>
            </a:extLst>
          </p:cNvPr>
          <p:cNvSpPr/>
          <p:nvPr/>
        </p:nvSpPr>
        <p:spPr>
          <a:xfrm>
            <a:off x="452203" y="4732272"/>
            <a:ext cx="2638269" cy="614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Display matching students</a:t>
            </a:r>
            <a:endParaRPr lang="en-IN" dirty="0"/>
          </a:p>
        </p:txBody>
      </p:sp>
      <p:sp>
        <p:nvSpPr>
          <p:cNvPr id="11" name="Oval 10">
            <a:extLst>
              <a:ext uri="{FF2B5EF4-FFF2-40B4-BE49-F238E27FC236}">
                <a16:creationId xmlns:a16="http://schemas.microsoft.com/office/drawing/2014/main" id="{A8EAF396-F659-3AA9-5BF4-3EE9E70EC232}"/>
              </a:ext>
            </a:extLst>
          </p:cNvPr>
          <p:cNvSpPr/>
          <p:nvPr/>
        </p:nvSpPr>
        <p:spPr>
          <a:xfrm>
            <a:off x="452203" y="5553651"/>
            <a:ext cx="2638269" cy="61459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1830137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67EB12-6D8A-8CA7-7D6C-2AB4956B4ADC}"/>
              </a:ext>
            </a:extLst>
          </p:cNvPr>
          <p:cNvSpPr txBox="1"/>
          <p:nvPr/>
        </p:nvSpPr>
        <p:spPr>
          <a:xfrm>
            <a:off x="164892" y="179882"/>
            <a:ext cx="5612346" cy="2000548"/>
          </a:xfrm>
          <a:prstGeom prst="rect">
            <a:avLst/>
          </a:prstGeom>
          <a:noFill/>
        </p:spPr>
        <p:txBody>
          <a:bodyPr wrap="square" rtlCol="0">
            <a:spAutoFit/>
          </a:bodyPr>
          <a:lstStyle/>
          <a:p>
            <a:r>
              <a:rPr lang="en-US" sz="2800" dirty="0"/>
              <a:t>9 Count Students Algorithm: </a:t>
            </a:r>
          </a:p>
          <a:p>
            <a:pPr marL="342900" indent="-342900">
              <a:buAutoNum type="arabicPeriod"/>
            </a:pPr>
            <a:r>
              <a:rPr lang="en-US" dirty="0"/>
              <a:t>START</a:t>
            </a:r>
          </a:p>
          <a:p>
            <a:r>
              <a:rPr lang="en-US" dirty="0"/>
              <a:t>2. Count student records</a:t>
            </a:r>
          </a:p>
          <a:p>
            <a:r>
              <a:rPr lang="en-US" dirty="0"/>
              <a:t> 3. Display total count </a:t>
            </a:r>
          </a:p>
          <a:p>
            <a:r>
              <a:rPr lang="en-US" dirty="0"/>
              <a:t>4. STOP</a:t>
            </a:r>
          </a:p>
          <a:p>
            <a:r>
              <a:rPr lang="en-US" sz="2400" dirty="0"/>
              <a:t>Flowchart:</a:t>
            </a:r>
            <a:endParaRPr lang="en-IN" sz="2400" dirty="0"/>
          </a:p>
        </p:txBody>
      </p:sp>
      <p:sp>
        <p:nvSpPr>
          <p:cNvPr id="3" name="Oval 2">
            <a:extLst>
              <a:ext uri="{FF2B5EF4-FFF2-40B4-BE49-F238E27FC236}">
                <a16:creationId xmlns:a16="http://schemas.microsoft.com/office/drawing/2014/main" id="{640C58F7-6614-0F98-ED6C-E7A7E442B744}"/>
              </a:ext>
            </a:extLst>
          </p:cNvPr>
          <p:cNvSpPr/>
          <p:nvPr/>
        </p:nvSpPr>
        <p:spPr>
          <a:xfrm>
            <a:off x="212875" y="2402494"/>
            <a:ext cx="2758190" cy="5696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5" name="Oval 4">
            <a:extLst>
              <a:ext uri="{FF2B5EF4-FFF2-40B4-BE49-F238E27FC236}">
                <a16:creationId xmlns:a16="http://schemas.microsoft.com/office/drawing/2014/main" id="{16BF44C7-73A6-93E3-59D8-012A98E5C9FE}"/>
              </a:ext>
            </a:extLst>
          </p:cNvPr>
          <p:cNvSpPr/>
          <p:nvPr/>
        </p:nvSpPr>
        <p:spPr>
          <a:xfrm>
            <a:off x="212875" y="3159815"/>
            <a:ext cx="2758190" cy="5696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Count student records</a:t>
            </a:r>
          </a:p>
        </p:txBody>
      </p:sp>
      <p:sp>
        <p:nvSpPr>
          <p:cNvPr id="7" name="Oval 6">
            <a:extLst>
              <a:ext uri="{FF2B5EF4-FFF2-40B4-BE49-F238E27FC236}">
                <a16:creationId xmlns:a16="http://schemas.microsoft.com/office/drawing/2014/main" id="{C8FDEB8B-46FE-744C-8F02-451DC232078A}"/>
              </a:ext>
            </a:extLst>
          </p:cNvPr>
          <p:cNvSpPr/>
          <p:nvPr/>
        </p:nvSpPr>
        <p:spPr>
          <a:xfrm>
            <a:off x="212875" y="3862174"/>
            <a:ext cx="2758190" cy="75668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Display total count</a:t>
            </a:r>
          </a:p>
        </p:txBody>
      </p:sp>
      <p:sp>
        <p:nvSpPr>
          <p:cNvPr id="11" name="Oval 10">
            <a:extLst>
              <a:ext uri="{FF2B5EF4-FFF2-40B4-BE49-F238E27FC236}">
                <a16:creationId xmlns:a16="http://schemas.microsoft.com/office/drawing/2014/main" id="{F96499DA-089C-3EEF-2420-242B6285B604}"/>
              </a:ext>
            </a:extLst>
          </p:cNvPr>
          <p:cNvSpPr/>
          <p:nvPr/>
        </p:nvSpPr>
        <p:spPr>
          <a:xfrm>
            <a:off x="212875" y="4840922"/>
            <a:ext cx="2758190" cy="56962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2315842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88C342-695C-F76D-313B-4C4FFC9D42B1}"/>
              </a:ext>
            </a:extLst>
          </p:cNvPr>
          <p:cNvSpPr txBox="1"/>
          <p:nvPr/>
        </p:nvSpPr>
        <p:spPr>
          <a:xfrm>
            <a:off x="0" y="0"/>
            <a:ext cx="6595672" cy="2616101"/>
          </a:xfrm>
          <a:prstGeom prst="rect">
            <a:avLst/>
          </a:prstGeom>
          <a:noFill/>
        </p:spPr>
        <p:txBody>
          <a:bodyPr wrap="square" rtlCol="0">
            <a:spAutoFit/>
          </a:bodyPr>
          <a:lstStyle/>
          <a:p>
            <a:r>
              <a:rPr lang="en-US" sz="3200" dirty="0"/>
              <a:t>10 Generate Reports Algorithm:</a:t>
            </a:r>
          </a:p>
          <a:p>
            <a:r>
              <a:rPr lang="en-US" dirty="0"/>
              <a:t> 1. START</a:t>
            </a:r>
          </a:p>
          <a:p>
            <a:r>
              <a:rPr lang="en-US" dirty="0"/>
              <a:t> 2. Collect student information</a:t>
            </a:r>
          </a:p>
          <a:p>
            <a:r>
              <a:rPr lang="en-US" dirty="0"/>
              <a:t> 3. Calculate required results </a:t>
            </a:r>
          </a:p>
          <a:p>
            <a:r>
              <a:rPr lang="en-US" dirty="0"/>
              <a:t>4. Prepare report </a:t>
            </a:r>
          </a:p>
          <a:p>
            <a:r>
              <a:rPr lang="en-US" dirty="0"/>
              <a:t>5. Display report</a:t>
            </a:r>
          </a:p>
          <a:p>
            <a:r>
              <a:rPr lang="en-US" dirty="0"/>
              <a:t> 6. STOP</a:t>
            </a:r>
          </a:p>
          <a:p>
            <a:r>
              <a:rPr lang="en-US" dirty="0"/>
              <a:t> </a:t>
            </a:r>
            <a:r>
              <a:rPr lang="en-US" sz="2400" dirty="0"/>
              <a:t>Flowchart:</a:t>
            </a:r>
            <a:endParaRPr lang="en-IN" sz="2400" dirty="0"/>
          </a:p>
        </p:txBody>
      </p:sp>
      <p:sp>
        <p:nvSpPr>
          <p:cNvPr id="4" name="Oval 3">
            <a:extLst>
              <a:ext uri="{FF2B5EF4-FFF2-40B4-BE49-F238E27FC236}">
                <a16:creationId xmlns:a16="http://schemas.microsoft.com/office/drawing/2014/main" id="{FA714246-3BA4-2A6F-A175-882BA60ECC76}"/>
              </a:ext>
            </a:extLst>
          </p:cNvPr>
          <p:cNvSpPr/>
          <p:nvPr/>
        </p:nvSpPr>
        <p:spPr>
          <a:xfrm>
            <a:off x="122418" y="2607039"/>
            <a:ext cx="2413417" cy="5958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6" name="Oval 5">
            <a:extLst>
              <a:ext uri="{FF2B5EF4-FFF2-40B4-BE49-F238E27FC236}">
                <a16:creationId xmlns:a16="http://schemas.microsoft.com/office/drawing/2014/main" id="{2016A4A7-A728-CC17-62B6-3FE31096E28D}"/>
              </a:ext>
            </a:extLst>
          </p:cNvPr>
          <p:cNvSpPr/>
          <p:nvPr/>
        </p:nvSpPr>
        <p:spPr>
          <a:xfrm>
            <a:off x="122418" y="3424469"/>
            <a:ext cx="2413417" cy="5958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Collect student information</a:t>
            </a:r>
            <a:endParaRPr lang="en-IN" dirty="0"/>
          </a:p>
        </p:txBody>
      </p:sp>
      <p:sp>
        <p:nvSpPr>
          <p:cNvPr id="8" name="Oval 7">
            <a:extLst>
              <a:ext uri="{FF2B5EF4-FFF2-40B4-BE49-F238E27FC236}">
                <a16:creationId xmlns:a16="http://schemas.microsoft.com/office/drawing/2014/main" id="{38FA35AF-EAC2-D285-FA82-69FB20420FDF}"/>
              </a:ext>
            </a:extLst>
          </p:cNvPr>
          <p:cNvSpPr/>
          <p:nvPr/>
        </p:nvSpPr>
        <p:spPr>
          <a:xfrm>
            <a:off x="122417" y="4174602"/>
            <a:ext cx="2413417" cy="5958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Calculate required results</a:t>
            </a:r>
          </a:p>
        </p:txBody>
      </p:sp>
      <p:sp>
        <p:nvSpPr>
          <p:cNvPr id="10" name="Oval 9">
            <a:extLst>
              <a:ext uri="{FF2B5EF4-FFF2-40B4-BE49-F238E27FC236}">
                <a16:creationId xmlns:a16="http://schemas.microsoft.com/office/drawing/2014/main" id="{A1E4077D-F134-7694-44BA-02DFC2F05E0E}"/>
              </a:ext>
            </a:extLst>
          </p:cNvPr>
          <p:cNvSpPr/>
          <p:nvPr/>
        </p:nvSpPr>
        <p:spPr>
          <a:xfrm>
            <a:off x="132407" y="4805755"/>
            <a:ext cx="2413417" cy="5958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Prepare report</a:t>
            </a:r>
            <a:endParaRPr lang="en-IN" dirty="0"/>
          </a:p>
        </p:txBody>
      </p:sp>
      <p:sp>
        <p:nvSpPr>
          <p:cNvPr id="12" name="Oval 11">
            <a:extLst>
              <a:ext uri="{FF2B5EF4-FFF2-40B4-BE49-F238E27FC236}">
                <a16:creationId xmlns:a16="http://schemas.microsoft.com/office/drawing/2014/main" id="{955653AE-F11F-4422-C235-A6E631725413}"/>
              </a:ext>
            </a:extLst>
          </p:cNvPr>
          <p:cNvSpPr/>
          <p:nvPr/>
        </p:nvSpPr>
        <p:spPr>
          <a:xfrm>
            <a:off x="132407" y="5482492"/>
            <a:ext cx="2413417" cy="5958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Display report</a:t>
            </a:r>
          </a:p>
        </p:txBody>
      </p:sp>
      <p:sp>
        <p:nvSpPr>
          <p:cNvPr id="14" name="Oval 13">
            <a:extLst>
              <a:ext uri="{FF2B5EF4-FFF2-40B4-BE49-F238E27FC236}">
                <a16:creationId xmlns:a16="http://schemas.microsoft.com/office/drawing/2014/main" id="{F13E5523-96D9-5CA5-4D83-20247AD0A6C6}"/>
              </a:ext>
            </a:extLst>
          </p:cNvPr>
          <p:cNvSpPr/>
          <p:nvPr/>
        </p:nvSpPr>
        <p:spPr>
          <a:xfrm>
            <a:off x="132407" y="6209982"/>
            <a:ext cx="2413417" cy="5958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STOP</a:t>
            </a:r>
          </a:p>
        </p:txBody>
      </p:sp>
    </p:spTree>
    <p:extLst>
      <p:ext uri="{BB962C8B-B14F-4D97-AF65-F5344CB8AC3E}">
        <p14:creationId xmlns:p14="http://schemas.microsoft.com/office/powerpoint/2010/main" val="3782462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059467-D75F-89B8-D7BD-884E3A047767}"/>
              </a:ext>
            </a:extLst>
          </p:cNvPr>
          <p:cNvSpPr txBox="1"/>
          <p:nvPr/>
        </p:nvSpPr>
        <p:spPr>
          <a:xfrm>
            <a:off x="344774" y="92439"/>
            <a:ext cx="4688015" cy="5786199"/>
          </a:xfrm>
          <a:prstGeom prst="rect">
            <a:avLst/>
          </a:prstGeom>
          <a:noFill/>
        </p:spPr>
        <p:txBody>
          <a:bodyPr wrap="none" rtlCol="0">
            <a:spAutoFit/>
          </a:bodyPr>
          <a:lstStyle/>
          <a:p>
            <a:r>
              <a:rPr lang="en-US" dirty="0"/>
              <a:t> </a:t>
            </a:r>
            <a:r>
              <a:rPr lang="en-US" sz="2800" dirty="0"/>
              <a:t>Pseudocode </a:t>
            </a:r>
          </a:p>
          <a:p>
            <a:r>
              <a:rPr lang="en-US" dirty="0">
                <a:solidFill>
                  <a:srgbClr val="FF0000"/>
                </a:solidFill>
              </a:rPr>
              <a:t>1.Add Student</a:t>
            </a:r>
          </a:p>
          <a:p>
            <a:r>
              <a:rPr lang="en-US" dirty="0"/>
              <a:t> START</a:t>
            </a:r>
          </a:p>
          <a:p>
            <a:r>
              <a:rPr lang="en-US" dirty="0"/>
              <a:t> INPUT student details </a:t>
            </a:r>
          </a:p>
          <a:p>
            <a:r>
              <a:rPr lang="en-US" dirty="0"/>
              <a:t>STORE details</a:t>
            </a:r>
          </a:p>
          <a:p>
            <a:r>
              <a:rPr lang="en-US" dirty="0"/>
              <a:t> DISPLAY success message</a:t>
            </a:r>
          </a:p>
          <a:p>
            <a:r>
              <a:rPr lang="en-US" dirty="0"/>
              <a:t> STOP</a:t>
            </a:r>
          </a:p>
          <a:p>
            <a:r>
              <a:rPr lang="en-US" dirty="0">
                <a:solidFill>
                  <a:srgbClr val="FF0000"/>
                </a:solidFill>
              </a:rPr>
              <a:t> 2.Search Student </a:t>
            </a:r>
          </a:p>
          <a:p>
            <a:r>
              <a:rPr lang="en-US" dirty="0"/>
              <a:t>START</a:t>
            </a:r>
          </a:p>
          <a:p>
            <a:r>
              <a:rPr lang="en-US" dirty="0"/>
              <a:t> INPUT roll number </a:t>
            </a:r>
          </a:p>
          <a:p>
            <a:r>
              <a:rPr lang="en-US" dirty="0"/>
              <a:t> SEARCH record</a:t>
            </a:r>
          </a:p>
          <a:p>
            <a:r>
              <a:rPr lang="en-US" dirty="0"/>
              <a:t> IF </a:t>
            </a:r>
            <a:r>
              <a:rPr lang="en-US" dirty="0" err="1"/>
              <a:t>foundDISPLAY</a:t>
            </a:r>
            <a:r>
              <a:rPr lang="en-US" dirty="0"/>
              <a:t> record</a:t>
            </a:r>
          </a:p>
          <a:p>
            <a:r>
              <a:rPr lang="en-US" dirty="0"/>
              <a:t> ELSE DISPLAY not found </a:t>
            </a:r>
          </a:p>
          <a:p>
            <a:r>
              <a:rPr lang="en-US" dirty="0"/>
              <a:t>STOP</a:t>
            </a:r>
          </a:p>
          <a:p>
            <a:r>
              <a:rPr lang="en-US" dirty="0">
                <a:solidFill>
                  <a:srgbClr val="FF0000"/>
                </a:solidFill>
              </a:rPr>
              <a:t>3.Update Record</a:t>
            </a:r>
          </a:p>
          <a:p>
            <a:r>
              <a:rPr lang="en-US" dirty="0"/>
              <a:t> START</a:t>
            </a:r>
          </a:p>
          <a:p>
            <a:r>
              <a:rPr lang="en-US" dirty="0"/>
              <a:t> INPUT roll number SEARCH record</a:t>
            </a:r>
          </a:p>
          <a:p>
            <a:r>
              <a:rPr lang="en-US" dirty="0"/>
              <a:t> IF found INPUT new details and UPDATE record </a:t>
            </a:r>
          </a:p>
          <a:p>
            <a:r>
              <a:rPr lang="en-US" dirty="0"/>
              <a:t>ELSE DISPLAY not found </a:t>
            </a:r>
          </a:p>
          <a:p>
            <a:r>
              <a:rPr lang="en-US" dirty="0"/>
              <a:t>STOP</a:t>
            </a:r>
            <a:endParaRPr lang="en-IN" dirty="0"/>
          </a:p>
        </p:txBody>
      </p:sp>
    </p:spTree>
    <p:extLst>
      <p:ext uri="{BB962C8B-B14F-4D97-AF65-F5344CB8AC3E}">
        <p14:creationId xmlns:p14="http://schemas.microsoft.com/office/powerpoint/2010/main" val="2825210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4C5BF5-C58C-8510-6E78-D35E0DC9DE41}"/>
              </a:ext>
            </a:extLst>
          </p:cNvPr>
          <p:cNvSpPr txBox="1"/>
          <p:nvPr/>
        </p:nvSpPr>
        <p:spPr>
          <a:xfrm>
            <a:off x="261257" y="116114"/>
            <a:ext cx="3865225" cy="1754326"/>
          </a:xfrm>
          <a:prstGeom prst="rect">
            <a:avLst/>
          </a:prstGeom>
          <a:noFill/>
        </p:spPr>
        <p:txBody>
          <a:bodyPr wrap="none" rtlCol="0">
            <a:spAutoFit/>
          </a:bodyPr>
          <a:lstStyle/>
          <a:p>
            <a:r>
              <a:rPr lang="en-US" dirty="0">
                <a:solidFill>
                  <a:srgbClr val="FF0000"/>
                </a:solidFill>
              </a:rPr>
              <a:t>4.Delete Record</a:t>
            </a:r>
            <a:r>
              <a:rPr lang="en-US" dirty="0"/>
              <a:t> </a:t>
            </a:r>
          </a:p>
          <a:p>
            <a:r>
              <a:rPr lang="en-US" dirty="0"/>
              <a:t>START</a:t>
            </a:r>
          </a:p>
          <a:p>
            <a:r>
              <a:rPr lang="en-US" dirty="0"/>
              <a:t> INPUT roll number</a:t>
            </a:r>
          </a:p>
          <a:p>
            <a:r>
              <a:rPr lang="en-US" dirty="0"/>
              <a:t> SEARCH record IF found DELETE record</a:t>
            </a:r>
          </a:p>
          <a:p>
            <a:r>
              <a:rPr lang="en-US" dirty="0"/>
              <a:t> ELSE DISPLAY not found</a:t>
            </a:r>
          </a:p>
          <a:p>
            <a:r>
              <a:rPr lang="en-US" dirty="0"/>
              <a:t> STOP</a:t>
            </a:r>
            <a:endParaRPr lang="en-IN" dirty="0"/>
          </a:p>
        </p:txBody>
      </p:sp>
      <p:sp>
        <p:nvSpPr>
          <p:cNvPr id="3" name="TextBox 2">
            <a:extLst>
              <a:ext uri="{FF2B5EF4-FFF2-40B4-BE49-F238E27FC236}">
                <a16:creationId xmlns:a16="http://schemas.microsoft.com/office/drawing/2014/main" id="{4D95E66C-EC15-5BC8-132C-3832EBB40213}"/>
              </a:ext>
            </a:extLst>
          </p:cNvPr>
          <p:cNvSpPr txBox="1"/>
          <p:nvPr/>
        </p:nvSpPr>
        <p:spPr>
          <a:xfrm>
            <a:off x="261257" y="1778897"/>
            <a:ext cx="4211346" cy="3139321"/>
          </a:xfrm>
          <a:prstGeom prst="rect">
            <a:avLst/>
          </a:prstGeom>
          <a:noFill/>
        </p:spPr>
        <p:txBody>
          <a:bodyPr wrap="none" rtlCol="0">
            <a:spAutoFit/>
          </a:bodyPr>
          <a:lstStyle/>
          <a:p>
            <a:r>
              <a:rPr lang="en-US" dirty="0">
                <a:solidFill>
                  <a:srgbClr val="FF0000"/>
                </a:solidFill>
              </a:rPr>
              <a:t>5.Display Records</a:t>
            </a:r>
          </a:p>
          <a:p>
            <a:r>
              <a:rPr lang="en-US" dirty="0"/>
              <a:t> START</a:t>
            </a:r>
          </a:p>
          <a:p>
            <a:r>
              <a:rPr lang="en-US" dirty="0"/>
              <a:t> IF records are available DISPLAY all records</a:t>
            </a:r>
          </a:p>
          <a:p>
            <a:r>
              <a:rPr lang="en-US" dirty="0"/>
              <a:t> ELSE DISPLAY no records</a:t>
            </a:r>
          </a:p>
          <a:p>
            <a:r>
              <a:rPr lang="en-US" dirty="0"/>
              <a:t> STOP</a:t>
            </a:r>
          </a:p>
          <a:p>
            <a:r>
              <a:rPr lang="en-US" dirty="0">
                <a:solidFill>
                  <a:srgbClr val="FF0000"/>
                </a:solidFill>
              </a:rPr>
              <a:t>6. Calculate Average</a:t>
            </a:r>
          </a:p>
          <a:p>
            <a:r>
              <a:rPr lang="en-US" dirty="0"/>
              <a:t> START</a:t>
            </a:r>
          </a:p>
          <a:p>
            <a:r>
              <a:rPr lang="en-US" dirty="0"/>
              <a:t> INPUT marks TOTAL = sum of marks</a:t>
            </a:r>
          </a:p>
          <a:p>
            <a:r>
              <a:rPr lang="en-US" dirty="0"/>
              <a:t> AVERAGE = TOTAL / number of subjects </a:t>
            </a:r>
          </a:p>
          <a:p>
            <a:r>
              <a:rPr lang="en-US" dirty="0"/>
              <a:t>DISPLAY AVERAGE </a:t>
            </a:r>
          </a:p>
          <a:p>
            <a:r>
              <a:rPr lang="en-US" dirty="0"/>
              <a:t>STOP</a:t>
            </a:r>
            <a:endParaRPr lang="en-IN" dirty="0"/>
          </a:p>
        </p:txBody>
      </p:sp>
      <p:sp>
        <p:nvSpPr>
          <p:cNvPr id="4" name="TextBox 3">
            <a:extLst>
              <a:ext uri="{FF2B5EF4-FFF2-40B4-BE49-F238E27FC236}">
                <a16:creationId xmlns:a16="http://schemas.microsoft.com/office/drawing/2014/main" id="{FD673CEB-BD9F-ED3A-6D45-CF81DAD82156}"/>
              </a:ext>
            </a:extLst>
          </p:cNvPr>
          <p:cNvSpPr txBox="1"/>
          <p:nvPr/>
        </p:nvSpPr>
        <p:spPr>
          <a:xfrm>
            <a:off x="377372" y="4826675"/>
            <a:ext cx="6093798" cy="2031325"/>
          </a:xfrm>
          <a:prstGeom prst="rect">
            <a:avLst/>
          </a:prstGeom>
          <a:noFill/>
        </p:spPr>
        <p:txBody>
          <a:bodyPr wrap="square" rtlCol="0">
            <a:spAutoFit/>
          </a:bodyPr>
          <a:lstStyle/>
          <a:p>
            <a:r>
              <a:rPr lang="en-IN" dirty="0">
                <a:solidFill>
                  <a:srgbClr val="FF0000"/>
                </a:solidFill>
              </a:rPr>
              <a:t>7.</a:t>
            </a:r>
            <a:r>
              <a:rPr lang="en-US" dirty="0">
                <a:solidFill>
                  <a:srgbClr val="FF0000"/>
                </a:solidFill>
              </a:rPr>
              <a:t> Find Highest Scorer</a:t>
            </a:r>
          </a:p>
          <a:p>
            <a:r>
              <a:rPr lang="en-US" dirty="0"/>
              <a:t> START </a:t>
            </a:r>
          </a:p>
          <a:p>
            <a:r>
              <a:rPr lang="en-US" dirty="0"/>
              <a:t>READ all marks </a:t>
            </a:r>
          </a:p>
          <a:p>
            <a:r>
              <a:rPr lang="en-US" dirty="0"/>
              <a:t>COMPARE marks </a:t>
            </a:r>
          </a:p>
          <a:p>
            <a:r>
              <a:rPr lang="en-US" dirty="0"/>
              <a:t>STORE highest marks</a:t>
            </a:r>
          </a:p>
          <a:p>
            <a:r>
              <a:rPr lang="en-US" dirty="0"/>
              <a:t> DISPLAY highest scorer</a:t>
            </a:r>
          </a:p>
          <a:p>
            <a:r>
              <a:rPr lang="en-US" dirty="0"/>
              <a:t> STOP</a:t>
            </a:r>
            <a:endParaRPr lang="en-IN" dirty="0"/>
          </a:p>
        </p:txBody>
      </p:sp>
    </p:spTree>
    <p:extLst>
      <p:ext uri="{BB962C8B-B14F-4D97-AF65-F5344CB8AC3E}">
        <p14:creationId xmlns:p14="http://schemas.microsoft.com/office/powerpoint/2010/main" val="2532857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1692D8-718C-21BF-CBDD-C965BFFF9E0E}"/>
              </a:ext>
            </a:extLst>
          </p:cNvPr>
          <p:cNvSpPr txBox="1"/>
          <p:nvPr/>
        </p:nvSpPr>
        <p:spPr>
          <a:xfrm>
            <a:off x="566058" y="412099"/>
            <a:ext cx="6096000" cy="4524315"/>
          </a:xfrm>
          <a:prstGeom prst="rect">
            <a:avLst/>
          </a:prstGeom>
          <a:noFill/>
        </p:spPr>
        <p:txBody>
          <a:bodyPr wrap="square">
            <a:spAutoFit/>
          </a:bodyPr>
          <a:lstStyle/>
          <a:p>
            <a:r>
              <a:rPr lang="en-IN" dirty="0">
                <a:solidFill>
                  <a:srgbClr val="FF0000"/>
                </a:solidFill>
              </a:rPr>
              <a:t>8.List by Department</a:t>
            </a:r>
          </a:p>
          <a:p>
            <a:r>
              <a:rPr lang="en-IN" dirty="0"/>
              <a:t> START </a:t>
            </a:r>
          </a:p>
          <a:p>
            <a:r>
              <a:rPr lang="en-IN" dirty="0"/>
              <a:t>INPUT department CHECK all records</a:t>
            </a:r>
          </a:p>
          <a:p>
            <a:r>
              <a:rPr lang="en-IN" dirty="0"/>
              <a:t> DISPLAY matching records</a:t>
            </a:r>
          </a:p>
          <a:p>
            <a:r>
              <a:rPr lang="en-IN" dirty="0"/>
              <a:t> STOP</a:t>
            </a:r>
          </a:p>
          <a:p>
            <a:r>
              <a:rPr lang="en-IN" dirty="0">
                <a:solidFill>
                  <a:srgbClr val="FF0000"/>
                </a:solidFill>
              </a:rPr>
              <a:t>9. Count Students</a:t>
            </a:r>
          </a:p>
          <a:p>
            <a:r>
              <a:rPr lang="en-IN" dirty="0"/>
              <a:t> START</a:t>
            </a:r>
          </a:p>
          <a:p>
            <a:r>
              <a:rPr lang="en-IN" dirty="0"/>
              <a:t> COUNT records</a:t>
            </a:r>
          </a:p>
          <a:p>
            <a:r>
              <a:rPr lang="en-IN" dirty="0"/>
              <a:t> DISPLAY count</a:t>
            </a:r>
          </a:p>
          <a:p>
            <a:r>
              <a:rPr lang="en-IN" dirty="0"/>
              <a:t> STOP </a:t>
            </a:r>
          </a:p>
          <a:p>
            <a:r>
              <a:rPr lang="en-IN" dirty="0">
                <a:solidFill>
                  <a:srgbClr val="FF0000"/>
                </a:solidFill>
              </a:rPr>
              <a:t>1o.Generate Reports </a:t>
            </a:r>
          </a:p>
          <a:p>
            <a:r>
              <a:rPr lang="en-IN" dirty="0"/>
              <a:t>START</a:t>
            </a:r>
          </a:p>
          <a:p>
            <a:r>
              <a:rPr lang="en-IN" dirty="0"/>
              <a:t>COLLECT student data</a:t>
            </a:r>
          </a:p>
          <a:p>
            <a:r>
              <a:rPr lang="en-IN" dirty="0"/>
              <a:t> CALCULATE required results </a:t>
            </a:r>
          </a:p>
          <a:p>
            <a:r>
              <a:rPr lang="en-IN" dirty="0"/>
              <a:t>DISPLAY report</a:t>
            </a:r>
          </a:p>
          <a:p>
            <a:r>
              <a:rPr lang="en-IN" dirty="0"/>
              <a:t> STOP</a:t>
            </a:r>
          </a:p>
        </p:txBody>
      </p:sp>
    </p:spTree>
    <p:extLst>
      <p:ext uri="{BB962C8B-B14F-4D97-AF65-F5344CB8AC3E}">
        <p14:creationId xmlns:p14="http://schemas.microsoft.com/office/powerpoint/2010/main" val="3742531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47E53C-7081-B650-46E9-5467BF0EF69C}"/>
              </a:ext>
            </a:extLst>
          </p:cNvPr>
          <p:cNvSpPr txBox="1"/>
          <p:nvPr/>
        </p:nvSpPr>
        <p:spPr>
          <a:xfrm>
            <a:off x="142875" y="428625"/>
            <a:ext cx="9611029" cy="677108"/>
          </a:xfrm>
          <a:prstGeom prst="rect">
            <a:avLst/>
          </a:prstGeom>
          <a:noFill/>
        </p:spPr>
        <p:txBody>
          <a:bodyPr wrap="none" rtlCol="0">
            <a:spAutoFit/>
          </a:bodyPr>
          <a:lstStyle/>
          <a:p>
            <a:r>
              <a:rPr lang="en-US" sz="2400"/>
              <a:t> </a:t>
            </a:r>
            <a:r>
              <a:rPr lang="en-US" sz="2400" dirty="0"/>
              <a:t>Python Implementation </a:t>
            </a:r>
          </a:p>
          <a:p>
            <a:r>
              <a:rPr lang="en-US" sz="1400" dirty="0"/>
              <a:t>The following simple program uses a list of dictionaries to store student records and demonstrates the main operations. students </a:t>
            </a:r>
            <a:endParaRPr lang="en-IN" sz="1400" dirty="0"/>
          </a:p>
        </p:txBody>
      </p:sp>
      <p:sp>
        <p:nvSpPr>
          <p:cNvPr id="4" name="TextBox 3">
            <a:extLst>
              <a:ext uri="{FF2B5EF4-FFF2-40B4-BE49-F238E27FC236}">
                <a16:creationId xmlns:a16="http://schemas.microsoft.com/office/drawing/2014/main" id="{8F0A026A-0040-18A2-9B8A-7FB2908F100F}"/>
              </a:ext>
            </a:extLst>
          </p:cNvPr>
          <p:cNvSpPr txBox="1"/>
          <p:nvPr/>
        </p:nvSpPr>
        <p:spPr>
          <a:xfrm>
            <a:off x="355600" y="1105733"/>
            <a:ext cx="2690417" cy="2308324"/>
          </a:xfrm>
          <a:prstGeom prst="rect">
            <a:avLst/>
          </a:prstGeom>
          <a:noFill/>
        </p:spPr>
        <p:txBody>
          <a:bodyPr wrap="none" rtlCol="0">
            <a:spAutoFit/>
          </a:bodyPr>
          <a:lstStyle/>
          <a:p>
            <a:r>
              <a:rPr lang="en-IN" sz="1400" dirty="0"/>
              <a:t>students = []</a:t>
            </a:r>
          </a:p>
          <a:p>
            <a:endParaRPr lang="en-IN" sz="1400" dirty="0"/>
          </a:p>
          <a:p>
            <a:r>
              <a:rPr lang="en-US" sz="1400" dirty="0"/>
              <a:t># Add student </a:t>
            </a:r>
            <a:r>
              <a:rPr lang="en-US" sz="1400" dirty="0" err="1"/>
              <a:t>student</a:t>
            </a:r>
            <a:r>
              <a:rPr lang="en-US" sz="1400" dirty="0"/>
              <a:t> = {  </a:t>
            </a:r>
          </a:p>
          <a:p>
            <a:r>
              <a:rPr lang="en-US" sz="1400" dirty="0"/>
              <a:t>  "</a:t>
            </a:r>
            <a:r>
              <a:rPr lang="en-US" sz="1400" dirty="0" err="1"/>
              <a:t>roll_no</a:t>
            </a:r>
            <a:r>
              <a:rPr lang="en-US" sz="1400" dirty="0"/>
              <a:t>": 1032,  </a:t>
            </a:r>
          </a:p>
          <a:p>
            <a:r>
              <a:rPr lang="en-US" sz="1400" dirty="0"/>
              <a:t>  "name": “</a:t>
            </a:r>
            <a:r>
              <a:rPr lang="en-US" sz="1400" dirty="0" err="1"/>
              <a:t>sakshi</a:t>
            </a:r>
            <a:r>
              <a:rPr lang="en-US" sz="1400" dirty="0"/>
              <a:t>",</a:t>
            </a:r>
          </a:p>
          <a:p>
            <a:r>
              <a:rPr lang="en-US" sz="1400" dirty="0"/>
              <a:t>    "department": “AIDS”,  </a:t>
            </a:r>
          </a:p>
          <a:p>
            <a:r>
              <a:rPr lang="en-US" sz="1400" dirty="0"/>
              <a:t>  "subjects": ["Python", "</a:t>
            </a:r>
            <a:r>
              <a:rPr lang="en-US" sz="1400" dirty="0" err="1"/>
              <a:t>Maths</a:t>
            </a:r>
            <a:r>
              <a:rPr lang="en-US" sz="1400" dirty="0"/>
              <a:t>"],  </a:t>
            </a:r>
          </a:p>
          <a:p>
            <a:r>
              <a:rPr lang="en-US" sz="1400" dirty="0"/>
              <a:t>  "marks": [80, 75],  </a:t>
            </a:r>
          </a:p>
          <a:p>
            <a:r>
              <a:rPr lang="en-US" sz="1400" dirty="0"/>
              <a:t>  "attendance": 90</a:t>
            </a:r>
          </a:p>
          <a:p>
            <a:r>
              <a:rPr lang="en-US" dirty="0"/>
              <a:t>{</a:t>
            </a:r>
            <a:endParaRPr lang="en-IN" dirty="0"/>
          </a:p>
        </p:txBody>
      </p:sp>
      <p:sp>
        <p:nvSpPr>
          <p:cNvPr id="5" name="TextBox 4">
            <a:extLst>
              <a:ext uri="{FF2B5EF4-FFF2-40B4-BE49-F238E27FC236}">
                <a16:creationId xmlns:a16="http://schemas.microsoft.com/office/drawing/2014/main" id="{09BB6E7D-3AA6-CA01-0E99-CEF0FD4944F8}"/>
              </a:ext>
            </a:extLst>
          </p:cNvPr>
          <p:cNvSpPr txBox="1"/>
          <p:nvPr/>
        </p:nvSpPr>
        <p:spPr>
          <a:xfrm>
            <a:off x="355600" y="3443944"/>
            <a:ext cx="5444183" cy="2308324"/>
          </a:xfrm>
          <a:prstGeom prst="rect">
            <a:avLst/>
          </a:prstGeom>
          <a:noFill/>
        </p:spPr>
        <p:txBody>
          <a:bodyPr wrap="none" rtlCol="0">
            <a:spAutoFit/>
          </a:bodyPr>
          <a:lstStyle/>
          <a:p>
            <a:r>
              <a:rPr lang="en-US" dirty="0" err="1"/>
              <a:t>students.append</a:t>
            </a:r>
            <a:r>
              <a:rPr lang="en-US" dirty="0"/>
              <a:t>(student)</a:t>
            </a:r>
          </a:p>
          <a:p>
            <a:r>
              <a:rPr lang="en-US" dirty="0"/>
              <a:t> # Display records</a:t>
            </a:r>
          </a:p>
          <a:p>
            <a:r>
              <a:rPr lang="en-US" dirty="0"/>
              <a:t> for s in students:  </a:t>
            </a:r>
          </a:p>
          <a:p>
            <a:r>
              <a:rPr lang="en-US" dirty="0"/>
              <a:t>  print(s)</a:t>
            </a:r>
          </a:p>
          <a:p>
            <a:r>
              <a:rPr lang="en-US" dirty="0"/>
              <a:t> # Calculate average</a:t>
            </a:r>
          </a:p>
          <a:p>
            <a:r>
              <a:rPr lang="en-US" dirty="0"/>
              <a:t> marks = student["marks"] average = sum(marks) /</a:t>
            </a:r>
          </a:p>
          <a:p>
            <a:r>
              <a:rPr lang="en-US" dirty="0"/>
              <a:t> </a:t>
            </a:r>
            <a:r>
              <a:rPr lang="en-US" dirty="0" err="1"/>
              <a:t>len</a:t>
            </a:r>
            <a:r>
              <a:rPr lang="en-US" dirty="0"/>
              <a:t>(marks) print("Average =", average) </a:t>
            </a:r>
          </a:p>
          <a:p>
            <a:r>
              <a:rPr lang="en-US" dirty="0"/>
              <a:t># Count students print("Total students =", </a:t>
            </a:r>
            <a:r>
              <a:rPr lang="en-US" dirty="0" err="1"/>
              <a:t>len</a:t>
            </a:r>
            <a:r>
              <a:rPr lang="en-US" dirty="0"/>
              <a:t>(students))</a:t>
            </a:r>
            <a:endParaRPr lang="en-IN" dirty="0"/>
          </a:p>
        </p:txBody>
      </p:sp>
    </p:spTree>
    <p:extLst>
      <p:ext uri="{BB962C8B-B14F-4D97-AF65-F5344CB8AC3E}">
        <p14:creationId xmlns:p14="http://schemas.microsoft.com/office/powerpoint/2010/main" val="192540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6F2B54-1EC3-E3D0-F451-200147C36F34}"/>
              </a:ext>
            </a:extLst>
          </p:cNvPr>
          <p:cNvSpPr txBox="1"/>
          <p:nvPr/>
        </p:nvSpPr>
        <p:spPr>
          <a:xfrm>
            <a:off x="473381" y="439443"/>
            <a:ext cx="2452914" cy="523220"/>
          </a:xfrm>
          <a:prstGeom prst="rect">
            <a:avLst/>
          </a:prstGeom>
          <a:noFill/>
        </p:spPr>
        <p:txBody>
          <a:bodyPr wrap="square" rtlCol="0">
            <a:spAutoFit/>
          </a:bodyPr>
          <a:lstStyle/>
          <a:p>
            <a:r>
              <a:rPr lang="en-IN" sz="2800" dirty="0"/>
              <a:t>Observations</a:t>
            </a:r>
          </a:p>
        </p:txBody>
      </p:sp>
      <p:sp>
        <p:nvSpPr>
          <p:cNvPr id="5" name="TextBox 4">
            <a:extLst>
              <a:ext uri="{FF2B5EF4-FFF2-40B4-BE49-F238E27FC236}">
                <a16:creationId xmlns:a16="http://schemas.microsoft.com/office/drawing/2014/main" id="{862416E3-B20E-F61C-9EB5-D51AD975ED5D}"/>
              </a:ext>
            </a:extLst>
          </p:cNvPr>
          <p:cNvSpPr txBox="1"/>
          <p:nvPr/>
        </p:nvSpPr>
        <p:spPr>
          <a:xfrm>
            <a:off x="522515" y="1030514"/>
            <a:ext cx="10105652" cy="646331"/>
          </a:xfrm>
          <a:prstGeom prst="rect">
            <a:avLst/>
          </a:prstGeom>
          <a:noFill/>
        </p:spPr>
        <p:txBody>
          <a:bodyPr wrap="none" rtlCol="0">
            <a:spAutoFit/>
          </a:bodyPr>
          <a:lstStyle/>
          <a:p>
            <a:r>
              <a:rPr lang="en-US" dirty="0"/>
              <a:t>The program can store student information using different Python data structures. Search, update, delete,</a:t>
            </a:r>
          </a:p>
          <a:p>
            <a:r>
              <a:rPr lang="en-US" dirty="0"/>
              <a:t> average, highest scorer, department listing and counting operations can be performed on the records.</a:t>
            </a:r>
            <a:endParaRPr lang="en-IN" dirty="0"/>
          </a:p>
        </p:txBody>
      </p:sp>
      <p:sp>
        <p:nvSpPr>
          <p:cNvPr id="6" name="TextBox 5">
            <a:extLst>
              <a:ext uri="{FF2B5EF4-FFF2-40B4-BE49-F238E27FC236}">
                <a16:creationId xmlns:a16="http://schemas.microsoft.com/office/drawing/2014/main" id="{318A919A-2BE3-5BCE-4594-30DB1D38BD1F}"/>
              </a:ext>
            </a:extLst>
          </p:cNvPr>
          <p:cNvSpPr txBox="1"/>
          <p:nvPr/>
        </p:nvSpPr>
        <p:spPr>
          <a:xfrm>
            <a:off x="522515" y="1973943"/>
            <a:ext cx="3292558" cy="584775"/>
          </a:xfrm>
          <a:prstGeom prst="rect">
            <a:avLst/>
          </a:prstGeom>
          <a:noFill/>
        </p:spPr>
        <p:txBody>
          <a:bodyPr wrap="square" rtlCol="0">
            <a:spAutoFit/>
          </a:bodyPr>
          <a:lstStyle/>
          <a:p>
            <a:r>
              <a:rPr lang="en-IN" sz="3200" dirty="0"/>
              <a:t>Conclusion</a:t>
            </a:r>
          </a:p>
        </p:txBody>
      </p:sp>
      <p:sp>
        <p:nvSpPr>
          <p:cNvPr id="7" name="TextBox 6">
            <a:extLst>
              <a:ext uri="{FF2B5EF4-FFF2-40B4-BE49-F238E27FC236}">
                <a16:creationId xmlns:a16="http://schemas.microsoft.com/office/drawing/2014/main" id="{0B38D727-C591-B0E0-7252-9425A6CB7EAE}"/>
              </a:ext>
            </a:extLst>
          </p:cNvPr>
          <p:cNvSpPr txBox="1"/>
          <p:nvPr/>
        </p:nvSpPr>
        <p:spPr>
          <a:xfrm>
            <a:off x="522515" y="2705100"/>
            <a:ext cx="8182496" cy="923330"/>
          </a:xfrm>
          <a:prstGeom prst="rect">
            <a:avLst/>
          </a:prstGeom>
          <a:noFill/>
        </p:spPr>
        <p:txBody>
          <a:bodyPr wrap="none" rtlCol="0">
            <a:spAutoFit/>
          </a:bodyPr>
          <a:lstStyle/>
          <a:p>
            <a:r>
              <a:rPr lang="en-US" dirty="0"/>
              <a:t>The Student Record Management System shows how Python collections can be</a:t>
            </a:r>
          </a:p>
          <a:p>
            <a:r>
              <a:rPr lang="en-US" dirty="0"/>
              <a:t> combined to solve a simple real-world problem. Algorithms, flowcharts,</a:t>
            </a:r>
          </a:p>
          <a:p>
            <a:r>
              <a:rPr lang="en-US" dirty="0"/>
              <a:t> pseudocode, implementation and testing help in developing the system step by step.</a:t>
            </a:r>
            <a:endParaRPr lang="en-IN" dirty="0"/>
          </a:p>
        </p:txBody>
      </p:sp>
      <p:sp>
        <p:nvSpPr>
          <p:cNvPr id="8" name="TextBox 7">
            <a:extLst>
              <a:ext uri="{FF2B5EF4-FFF2-40B4-BE49-F238E27FC236}">
                <a16:creationId xmlns:a16="http://schemas.microsoft.com/office/drawing/2014/main" id="{D16C8124-2F13-AB92-3702-0FFA04C547D9}"/>
              </a:ext>
            </a:extLst>
          </p:cNvPr>
          <p:cNvSpPr txBox="1"/>
          <p:nvPr/>
        </p:nvSpPr>
        <p:spPr>
          <a:xfrm>
            <a:off x="522515" y="4006895"/>
            <a:ext cx="4142544" cy="584775"/>
          </a:xfrm>
          <a:prstGeom prst="rect">
            <a:avLst/>
          </a:prstGeom>
          <a:noFill/>
        </p:spPr>
        <p:txBody>
          <a:bodyPr wrap="none" rtlCol="0">
            <a:spAutoFit/>
          </a:bodyPr>
          <a:lstStyle/>
          <a:p>
            <a:r>
              <a:rPr lang="en-IN" sz="3200" dirty="0"/>
              <a:t> Project Documentation</a:t>
            </a:r>
          </a:p>
        </p:txBody>
      </p:sp>
      <p:sp>
        <p:nvSpPr>
          <p:cNvPr id="9" name="TextBox 8">
            <a:extLst>
              <a:ext uri="{FF2B5EF4-FFF2-40B4-BE49-F238E27FC236}">
                <a16:creationId xmlns:a16="http://schemas.microsoft.com/office/drawing/2014/main" id="{A030D33D-EE9A-7BE5-9D2B-7378F8286921}"/>
              </a:ext>
            </a:extLst>
          </p:cNvPr>
          <p:cNvSpPr txBox="1"/>
          <p:nvPr/>
        </p:nvSpPr>
        <p:spPr>
          <a:xfrm>
            <a:off x="522515" y="4785469"/>
            <a:ext cx="10309361" cy="369332"/>
          </a:xfrm>
          <a:prstGeom prst="rect">
            <a:avLst/>
          </a:prstGeom>
          <a:noFill/>
        </p:spPr>
        <p:txBody>
          <a:bodyPr wrap="none" rtlCol="0">
            <a:spAutoFit/>
          </a:bodyPr>
          <a:lstStyle/>
          <a:p>
            <a:r>
              <a:rPr lang="en-US" dirty="0"/>
              <a:t>The final submission can include this report, source code, test cases and screenshots of the program output.</a:t>
            </a:r>
            <a:endParaRPr lang="en-IN" dirty="0"/>
          </a:p>
        </p:txBody>
      </p:sp>
    </p:spTree>
    <p:extLst>
      <p:ext uri="{BB962C8B-B14F-4D97-AF65-F5344CB8AC3E}">
        <p14:creationId xmlns:p14="http://schemas.microsoft.com/office/powerpoint/2010/main" val="3746575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1244</Words>
  <Application>Microsoft Office PowerPoint</Application>
  <PresentationFormat>Widescreen</PresentationFormat>
  <Paragraphs>269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Student Record &amp; Academic Management System unit:-second student name:-Sakshi Bharat Hon</vt:lpstr>
      <vt:lpstr>PowerPoint Presentation</vt:lpstr>
      <vt:lpstr>System Objective &amp; Methodology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Sakshi Hon</dc:creator>
  <cp:lastModifiedBy>Sakshi Hon</cp:lastModifiedBy>
  <cp:revision>2</cp:revision>
  <dcterms:created xsi:type="dcterms:W3CDTF">2026-10-09T08:41:26Z</dcterms:created>
  <dcterms:modified xsi:type="dcterms:W3CDTF">2026-10-10T12:51:35Z</dcterms:modified>
</cp:coreProperties>
</file>